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822960" y="640080"/>
            <a:ext cx="86868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SCHOOL OF COMPUTER SCIENCE AND ENGINEERING</a:t>
            </a:r>
            <a:endParaRPr lang="en-US" sz="1300" dirty="0"/>
          </a:p>
        </p:txBody>
      </p:sp>
      <p:sp>
        <p:nvSpPr>
          <p:cNvPr id="3" name="Text 1"/>
          <p:cNvSpPr/>
          <p:nvPr/>
        </p:nvSpPr>
        <p:spPr>
          <a:xfrm>
            <a:off x="822960" y="960120"/>
            <a:ext cx="8686800" cy="365760"/>
          </a:xfrm>
          <a:prstGeom prst="rect">
            <a:avLst/>
          </a:prstGeom>
          <a:noFill/>
          <a:ln/>
        </p:spPr>
        <p:txBody>
          <a:bodyPr wrap="square" lIns="0" tIns="0" rIns="0" bIns="0" rtlCol="0" anchor="ctr"/>
          <a:lstStyle/>
          <a:p>
            <a:pPr indent="0" marL="0">
              <a:buNone/>
            </a:pPr>
            <a:r>
              <a:rPr lang="en-US" sz="1400" dirty="0">
                <a:solidFill>
                  <a:srgbClr val="CADCDC"/>
                </a:solidFill>
                <a:latin typeface="Calibri" pitchFamily="34" charset="0"/>
                <a:ea typeface="Calibri" pitchFamily="34" charset="-122"/>
                <a:cs typeface="Calibri" pitchFamily="34" charset="-120"/>
              </a:rPr>
              <a:t>IILM University, Greater Noida, U.P.</a:t>
            </a:r>
            <a:endParaRPr lang="en-US" sz="1400" dirty="0"/>
          </a:p>
        </p:txBody>
      </p:sp>
      <p:sp>
        <p:nvSpPr>
          <p:cNvPr id="4" name="Text 2"/>
          <p:cNvSpPr/>
          <p:nvPr/>
        </p:nvSpPr>
        <p:spPr>
          <a:xfrm>
            <a:off x="777240" y="1965960"/>
            <a:ext cx="9601200" cy="640080"/>
          </a:xfrm>
          <a:prstGeom prst="rect">
            <a:avLst/>
          </a:prstGeom>
          <a:noFill/>
          <a:ln/>
        </p:spPr>
        <p:txBody>
          <a:bodyPr wrap="square" lIns="0" tIns="0" rIns="0" bIns="0" rtlCol="0" anchor="ctr"/>
          <a:lstStyle/>
          <a:p>
            <a:pPr indent="0" marL="0">
              <a:buNone/>
            </a:pPr>
            <a:r>
              <a:rPr lang="en-US" sz="2600" dirty="0">
                <a:solidFill>
                  <a:srgbClr val="CADCDC"/>
                </a:solidFill>
                <a:latin typeface="Cambria" pitchFamily="34" charset="0"/>
                <a:ea typeface="Cambria" pitchFamily="34" charset="-122"/>
                <a:cs typeface="Cambria" pitchFamily="34" charset="-120"/>
              </a:rPr>
              <a:t>Internship Report</a:t>
            </a:r>
            <a:endParaRPr lang="en-US" sz="2600" dirty="0"/>
          </a:p>
        </p:txBody>
      </p:sp>
      <p:sp>
        <p:nvSpPr>
          <p:cNvPr id="5" name="Text 3"/>
          <p:cNvSpPr/>
          <p:nvPr/>
        </p:nvSpPr>
        <p:spPr>
          <a:xfrm>
            <a:off x="777240" y="2514600"/>
            <a:ext cx="9875520" cy="1737360"/>
          </a:xfrm>
          <a:prstGeom prst="rect">
            <a:avLst/>
          </a:prstGeom>
          <a:noFill/>
          <a:ln/>
        </p:spPr>
        <p:txBody>
          <a:bodyPr wrap="square" lIns="0" tIns="0" rIns="0" bIns="0" rtlCol="0" anchor="ctr"/>
          <a:lstStyle/>
          <a:p>
            <a:pPr indent="0" marL="0">
              <a:lnSpc>
                <a:spcPct val="108000"/>
              </a:lnSpc>
              <a:buNone/>
            </a:pPr>
            <a:r>
              <a:rPr lang="en-US" sz="4600" b="1" dirty="0">
                <a:solidFill>
                  <a:srgbClr val="FFFFFF"/>
                </a:solidFill>
                <a:latin typeface="Cambria" pitchFamily="34" charset="0"/>
                <a:ea typeface="Cambria" pitchFamily="34" charset="-122"/>
                <a:cs typeface="Cambria" pitchFamily="34" charset="-120"/>
              </a:rPr>
              <a:t>Data Science Master</a:t>
            </a:r>
            <a:endParaRPr lang="en-US" sz="4600" dirty="0"/>
          </a:p>
          <a:p>
            <a:pPr indent="0" marL="0">
              <a:lnSpc>
                <a:spcPct val="108000"/>
              </a:lnSpc>
              <a:buNone/>
            </a:pPr>
            <a:r>
              <a:rPr lang="en-US" sz="4600" b="1" dirty="0">
                <a:solidFill>
                  <a:srgbClr val="FFFFFF"/>
                </a:solidFill>
                <a:latin typeface="Cambria" pitchFamily="34" charset="0"/>
                <a:ea typeface="Cambria" pitchFamily="34" charset="-122"/>
                <a:cs typeface="Cambria" pitchFamily="34" charset="-120"/>
              </a:rPr>
              <a:t>Virtual Internship</a:t>
            </a:r>
            <a:endParaRPr lang="en-US" sz="4600" dirty="0"/>
          </a:p>
        </p:txBody>
      </p:sp>
      <p:sp>
        <p:nvSpPr>
          <p:cNvPr id="6" name="Text 4"/>
          <p:cNvSpPr/>
          <p:nvPr/>
        </p:nvSpPr>
        <p:spPr>
          <a:xfrm>
            <a:off x="804672" y="4160520"/>
            <a:ext cx="7863840" cy="548640"/>
          </a:xfrm>
          <a:prstGeom prst="rect">
            <a:avLst/>
          </a:prstGeom>
          <a:noFill/>
          <a:ln/>
        </p:spPr>
        <p:txBody>
          <a:bodyPr wrap="square" lIns="0" tIns="0" rIns="0" bIns="0" rtlCol="0" anchor="ctr"/>
          <a:lstStyle/>
          <a:p>
            <a:pPr indent="0" marL="0">
              <a:buNone/>
            </a:pPr>
            <a:r>
              <a:rPr lang="en-US" sz="1300" i="1" dirty="0">
                <a:solidFill>
                  <a:srgbClr val="9FC2C4"/>
                </a:solidFill>
                <a:latin typeface="Calibri" pitchFamily="34" charset="0"/>
                <a:ea typeface="Calibri" pitchFamily="34" charset="-122"/>
                <a:cs typeface="Calibri" pitchFamily="34" charset="-120"/>
              </a:rPr>
              <a:t>In partial fulfilment of the requirement for the degree of Bachelor of Technology in Computer Science and Engineering</a:t>
            </a:r>
            <a:endParaRPr lang="en-US" sz="1300" dirty="0"/>
          </a:p>
        </p:txBody>
      </p:sp>
      <p:sp>
        <p:nvSpPr>
          <p:cNvPr id="7" name="Shape 5"/>
          <p:cNvSpPr/>
          <p:nvPr/>
        </p:nvSpPr>
        <p:spPr>
          <a:xfrm>
            <a:off x="777240" y="4892040"/>
            <a:ext cx="6035040" cy="1417320"/>
          </a:xfrm>
          <a:prstGeom prst="roundRect">
            <a:avLst>
              <a:gd name="adj" fmla="val 5806"/>
            </a:avLst>
          </a:prstGeom>
          <a:solidFill>
            <a:srgbClr val="06474D"/>
          </a:solidFill>
          <a:ln w="12700">
            <a:solidFill>
              <a:srgbClr val="028090"/>
            </a:solidFill>
            <a:prstDash val="solid"/>
          </a:ln>
          <a:effectLst>
            <a:outerShdw sx="100000" sy="100000" kx="0" ky="0" algn="bl" rotWithShape="0" blurRad="101600" dist="38100" dir="5400000">
              <a:srgbClr val="1B2A2F">
                <a:alpha val="18000"/>
              </a:srgbClr>
            </a:outerShdw>
          </a:effectLst>
        </p:spPr>
      </p:sp>
      <p:sp>
        <p:nvSpPr>
          <p:cNvPr id="8" name="Text 6"/>
          <p:cNvSpPr/>
          <p:nvPr/>
        </p:nvSpPr>
        <p:spPr>
          <a:xfrm>
            <a:off x="1005840" y="5056632"/>
            <a:ext cx="5577840" cy="1097280"/>
          </a:xfrm>
          <a:prstGeom prst="rect">
            <a:avLst/>
          </a:prstGeom>
          <a:noFill/>
          <a:ln/>
        </p:spPr>
        <p:txBody>
          <a:bodyPr wrap="square" lIns="0" tIns="0" rIns="0" bIns="0" rtlCol="0" anchor="ctr"/>
          <a:lstStyle/>
          <a:p>
            <a:pPr indent="0" marL="0">
              <a:lnSpc>
                <a:spcPct val="125000"/>
              </a:lnSpc>
              <a:buNone/>
            </a:pPr>
            <a:r>
              <a:rPr lang="en-US" sz="1250" b="1" dirty="0">
                <a:solidFill>
                  <a:srgbClr val="02C39A"/>
                </a:solidFill>
                <a:latin typeface="Calibri" pitchFamily="34" charset="0"/>
                <a:ea typeface="Calibri" pitchFamily="34" charset="-122"/>
                <a:cs typeface="Calibri" pitchFamily="34" charset="-120"/>
              </a:rPr>
              <a:t>Student	</a:t>
            </a:r>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Pallavi Bora</a:t>
            </a:r>
            <a:endParaRPr lang="en-US" sz="1250" dirty="0"/>
          </a:p>
          <a:p>
            <a:pPr indent="0" marL="0">
              <a:lnSpc>
                <a:spcPct val="125000"/>
              </a:lnSpc>
              <a:buNone/>
            </a:pPr>
            <a:r>
              <a:rPr lang="en-US" sz="1250" b="1" dirty="0">
                <a:solidFill>
                  <a:srgbClr val="02C39A"/>
                </a:solidFill>
                <a:latin typeface="Calibri" pitchFamily="34" charset="0"/>
                <a:ea typeface="Calibri" pitchFamily="34" charset="-122"/>
                <a:cs typeface="Calibri" pitchFamily="34" charset="-120"/>
              </a:rPr>
              <a:t>Roll Number	</a:t>
            </a:r>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25SCS1003003067</a:t>
            </a:r>
            <a:endParaRPr lang="en-US" sz="1250" dirty="0"/>
          </a:p>
          <a:p>
            <a:pPr indent="0" marL="0">
              <a:lnSpc>
                <a:spcPct val="125000"/>
              </a:lnSpc>
              <a:buNone/>
            </a:pPr>
            <a:r>
              <a:rPr lang="en-US" sz="1250" b="1" dirty="0">
                <a:solidFill>
                  <a:srgbClr val="02C39A"/>
                </a:solidFill>
                <a:latin typeface="Calibri" pitchFamily="34" charset="0"/>
                <a:ea typeface="Calibri" pitchFamily="34" charset="-122"/>
                <a:cs typeface="Calibri" pitchFamily="34" charset="-120"/>
              </a:rPr>
              <a:t>Batch	</a:t>
            </a:r>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2025-29</a:t>
            </a:r>
            <a:endParaRPr lang="en-US" sz="1250" dirty="0"/>
          </a:p>
        </p:txBody>
      </p:sp>
      <p:sp>
        <p:nvSpPr>
          <p:cNvPr id="9" name="Shape 7"/>
          <p:cNvSpPr/>
          <p:nvPr/>
        </p:nvSpPr>
        <p:spPr>
          <a:xfrm>
            <a:off x="10104120" y="4983480"/>
            <a:ext cx="1234440" cy="1234440"/>
          </a:xfrm>
          <a:prstGeom prst="ellipse">
            <a:avLst/>
          </a:prstGeom>
          <a:solidFill>
            <a:srgbClr val="028090"/>
          </a:solidFill>
          <a:ln/>
        </p:spPr>
      </p:sp>
      <p:pic>
        <p:nvPicPr>
          <p:cNvPr id="10" name="Image 0" descr="/home/claude/ppt/icon_grad.png">    </p:cNvPr>
          <p:cNvPicPr>
            <a:picLocks noChangeAspect="1"/>
          </p:cNvPicPr>
          <p:nvPr/>
        </p:nvPicPr>
        <p:blipFill>
          <a:blip r:embed="rId1"/>
          <a:stretch>
            <a:fillRect/>
          </a:stretch>
        </p:blipFill>
        <p:spPr>
          <a:xfrm>
            <a:off x="10264597" y="5143957"/>
            <a:ext cx="913486" cy="913486"/>
          </a:xfrm>
          <a:prstGeom prst="rect">
            <a:avLst/>
          </a:prstGeom>
        </p:spPr>
      </p:pic>
      <p:sp>
        <p:nvSpPr>
          <p:cNvPr id="11" name="Text 8"/>
          <p:cNvSpPr/>
          <p:nvPr/>
        </p:nvSpPr>
        <p:spPr>
          <a:xfrm>
            <a:off x="804672" y="6419088"/>
            <a:ext cx="3657600" cy="320040"/>
          </a:xfrm>
          <a:prstGeom prst="rect">
            <a:avLst/>
          </a:prstGeom>
          <a:noFill/>
          <a:ln/>
        </p:spPr>
        <p:txBody>
          <a:bodyPr wrap="square" lIns="0" tIns="0" rIns="0" bIns="0" rtlCol="0" anchor="ctr"/>
          <a:lstStyle/>
          <a:p>
            <a:pPr indent="0" marL="0">
              <a:buNone/>
            </a:pPr>
            <a:r>
              <a:rPr lang="en-US" sz="1200" dirty="0">
                <a:solidFill>
                  <a:srgbClr val="8FB4B6"/>
                </a:solidFill>
                <a:latin typeface="Calibri" pitchFamily="34" charset="0"/>
                <a:ea typeface="Calibri" pitchFamily="34" charset="-122"/>
                <a:cs typeface="Calibri" pitchFamily="34" charset="-120"/>
              </a:rPr>
              <a:t>2026 – 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FRONT MATTER</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Candidate's Declaration</a:t>
            </a:r>
            <a:endParaRPr lang="en-US" sz="3000" dirty="0"/>
          </a:p>
        </p:txBody>
      </p:sp>
      <p:sp>
        <p:nvSpPr>
          <p:cNvPr id="4" name="Shape 2"/>
          <p:cNvSpPr/>
          <p:nvPr/>
        </p:nvSpPr>
        <p:spPr>
          <a:xfrm>
            <a:off x="548640" y="1600200"/>
            <a:ext cx="7818120" cy="4069080"/>
          </a:xfrm>
          <a:prstGeom prst="roundRect">
            <a:avLst>
              <a:gd name="adj" fmla="val 1573"/>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5" name="Text 3"/>
          <p:cNvSpPr/>
          <p:nvPr/>
        </p:nvSpPr>
        <p:spPr>
          <a:xfrm>
            <a:off x="868680" y="1874520"/>
            <a:ext cx="7178040" cy="2926080"/>
          </a:xfrm>
          <a:prstGeom prst="rect">
            <a:avLst/>
          </a:prstGeom>
          <a:noFill/>
          <a:ln/>
        </p:spPr>
        <p:txBody>
          <a:bodyPr wrap="square" lIns="0" tIns="0" rIns="0" bIns="0" rtlCol="0" anchor="t"/>
          <a:lstStyle/>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I, Pallavi Bora, do hereby declare that the internship report titled “Data Science Master Virtual Internship” has been completed by me to fulfil the requirement for the award of the degree of Bachelor of Technology in Computer Science and Engineering.</a:t>
            </a:r>
            <a:endParaRPr lang="en-US" sz="1400" dirty="0"/>
          </a:p>
          <a:p>
            <a:pPr indent="0" marL="0">
              <a:lnSpc>
                <a:spcPct val="135000"/>
              </a:lnSpc>
              <a:buNone/>
            </a:pPr>
            <a:endParaRPr lang="en-US" sz="1400" dirty="0"/>
          </a:p>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All the references have been duly quoted, and I have not made use of any material from any other source without acknowledgement. I affirm that this report is my own original work and has not been submitted to any other institute for any degree or diploma requirement. I shall be solely responsible for any kind of copyright violation in this regard.</a:t>
            </a:r>
            <a:endParaRPr lang="en-US" sz="1400" dirty="0"/>
          </a:p>
        </p:txBody>
      </p:sp>
      <p:sp>
        <p:nvSpPr>
          <p:cNvPr id="6" name="Shape 4"/>
          <p:cNvSpPr/>
          <p:nvPr/>
        </p:nvSpPr>
        <p:spPr>
          <a:xfrm>
            <a:off x="914400" y="4983480"/>
            <a:ext cx="2377440" cy="0"/>
          </a:xfrm>
          <a:prstGeom prst="line">
            <a:avLst/>
          </a:prstGeom>
          <a:noFill/>
          <a:ln w="19050">
            <a:solidFill>
              <a:srgbClr val="028090"/>
            </a:solidFill>
            <a:prstDash val="solid"/>
          </a:ln>
        </p:spPr>
      </p:sp>
      <p:sp>
        <p:nvSpPr>
          <p:cNvPr id="7" name="Text 5"/>
          <p:cNvSpPr/>
          <p:nvPr/>
        </p:nvSpPr>
        <p:spPr>
          <a:xfrm>
            <a:off x="914400" y="5047488"/>
            <a:ext cx="3200400" cy="274320"/>
          </a:xfrm>
          <a:prstGeom prst="rect">
            <a:avLst/>
          </a:prstGeom>
          <a:noFill/>
          <a:ln/>
        </p:spPr>
        <p:txBody>
          <a:bodyPr wrap="square" lIns="0" tIns="0" rIns="0" bIns="0" rtlCol="0" anchor="ctr"/>
          <a:lstStyle/>
          <a:p>
            <a:pPr indent="0" marL="0">
              <a:buNone/>
            </a:pPr>
            <a:r>
              <a:rPr lang="en-US" sz="1400" i="1" dirty="0">
                <a:solidFill>
                  <a:srgbClr val="13282C"/>
                </a:solidFill>
                <a:latin typeface="Cambria" pitchFamily="34" charset="0"/>
                <a:ea typeface="Cambria" pitchFamily="34" charset="-122"/>
                <a:cs typeface="Cambria" pitchFamily="34" charset="-120"/>
              </a:rPr>
              <a:t>Pallavi Bora</a:t>
            </a:r>
            <a:endParaRPr lang="en-US" sz="1400" dirty="0"/>
          </a:p>
        </p:txBody>
      </p:sp>
      <p:sp>
        <p:nvSpPr>
          <p:cNvPr id="8" name="Text 6"/>
          <p:cNvSpPr/>
          <p:nvPr/>
        </p:nvSpPr>
        <p:spPr>
          <a:xfrm>
            <a:off x="914400" y="5321808"/>
            <a:ext cx="3657600" cy="274320"/>
          </a:xfrm>
          <a:prstGeom prst="rect">
            <a:avLst/>
          </a:prstGeom>
          <a:noFill/>
          <a:ln/>
        </p:spPr>
        <p:txBody>
          <a:bodyPr wrap="square" lIns="0" tIns="0" rIns="0" bIns="0" rtlCol="0" anchor="ctr"/>
          <a:lstStyle/>
          <a:p>
            <a:pPr indent="0" marL="0">
              <a:buNone/>
            </a:pPr>
            <a:r>
              <a:rPr lang="en-US" sz="1150" dirty="0">
                <a:solidFill>
                  <a:srgbClr val="5B7278"/>
                </a:solidFill>
                <a:latin typeface="Calibri" pitchFamily="34" charset="0"/>
                <a:ea typeface="Calibri" pitchFamily="34" charset="-122"/>
                <a:cs typeface="Calibri" pitchFamily="34" charset="-120"/>
              </a:rPr>
              <a:t>Roll No.: 25SCS1003003067</a:t>
            </a:r>
            <a:endParaRPr lang="en-US" sz="1150" dirty="0"/>
          </a:p>
        </p:txBody>
      </p:sp>
      <p:sp>
        <p:nvSpPr>
          <p:cNvPr id="9" name="Shape 7"/>
          <p:cNvSpPr/>
          <p:nvPr/>
        </p:nvSpPr>
        <p:spPr>
          <a:xfrm>
            <a:off x="8641080" y="1600200"/>
            <a:ext cx="3017520" cy="4069080"/>
          </a:xfrm>
          <a:prstGeom prst="roundRect">
            <a:avLst>
              <a:gd name="adj" fmla="val 2121"/>
            </a:avLst>
          </a:prstGeom>
          <a:solidFill>
            <a:srgbClr val="028090"/>
          </a:solidFill>
          <a:ln/>
          <a:effectLst>
            <a:outerShdw sx="100000" sy="100000" kx="0" ky="0" algn="bl" rotWithShape="0" blurRad="101600" dist="38100" dir="5400000">
              <a:srgbClr val="1B2A2F">
                <a:alpha val="18000"/>
              </a:srgbClr>
            </a:outerShdw>
          </a:effectLst>
        </p:spPr>
      </p:sp>
      <p:sp>
        <p:nvSpPr>
          <p:cNvPr id="10" name="Shape 8"/>
          <p:cNvSpPr/>
          <p:nvPr/>
        </p:nvSpPr>
        <p:spPr>
          <a:xfrm>
            <a:off x="9006840" y="1965960"/>
            <a:ext cx="868680" cy="868680"/>
          </a:xfrm>
          <a:prstGeom prst="ellipse">
            <a:avLst/>
          </a:prstGeom>
          <a:solidFill>
            <a:srgbClr val="00A896"/>
          </a:solidFill>
          <a:ln/>
        </p:spPr>
      </p:sp>
      <p:pic>
        <p:nvPicPr>
          <p:cNvPr id="11" name="Image 0" descr="/home/claude/ppt/icon_check.png">    </p:cNvPr>
          <p:cNvPicPr>
            <a:picLocks noChangeAspect="1"/>
          </p:cNvPicPr>
          <p:nvPr/>
        </p:nvPicPr>
        <p:blipFill>
          <a:blip r:embed="rId1"/>
          <a:stretch>
            <a:fillRect/>
          </a:stretch>
        </p:blipFill>
        <p:spPr>
          <a:xfrm>
            <a:off x="9119768" y="2078888"/>
            <a:ext cx="642823" cy="642823"/>
          </a:xfrm>
          <a:prstGeom prst="rect">
            <a:avLst/>
          </a:prstGeom>
        </p:spPr>
      </p:pic>
      <p:sp>
        <p:nvSpPr>
          <p:cNvPr id="12" name="Text 9"/>
          <p:cNvSpPr/>
          <p:nvPr/>
        </p:nvSpPr>
        <p:spPr>
          <a:xfrm>
            <a:off x="8869680" y="2971800"/>
            <a:ext cx="24688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Originality</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Affirmed</a:t>
            </a:r>
            <a:endParaRPr lang="en-US" sz="1700" dirty="0"/>
          </a:p>
        </p:txBody>
      </p:sp>
      <p:sp>
        <p:nvSpPr>
          <p:cNvPr id="13" name="Text 10"/>
          <p:cNvSpPr/>
          <p:nvPr/>
        </p:nvSpPr>
        <p:spPr>
          <a:xfrm>
            <a:off x="8915400" y="3703320"/>
            <a:ext cx="2423160" cy="1645920"/>
          </a:xfrm>
          <a:prstGeom prst="rect">
            <a:avLst/>
          </a:prstGeom>
          <a:noFill/>
          <a:ln/>
        </p:spPr>
        <p:txBody>
          <a:bodyPr wrap="square" lIns="0" tIns="0" rIns="0" bIns="0" rtlCol="0" anchor="ctr"/>
          <a:lstStyle/>
          <a:p>
            <a:pPr algn="ctr" indent="0" marL="0">
              <a:lnSpc>
                <a:spcPct val="130000"/>
              </a:lnSpc>
              <a:buNone/>
            </a:pPr>
            <a:r>
              <a:rPr lang="en-US" sz="1050" dirty="0">
                <a:solidFill>
                  <a:srgbClr val="E1F3F1"/>
                </a:solidFill>
                <a:latin typeface="Calibri" pitchFamily="34" charset="0"/>
                <a:ea typeface="Calibri" pitchFamily="34" charset="-122"/>
                <a:cs typeface="Calibri" pitchFamily="34" charset="-120"/>
              </a:rPr>
              <a:t>This report represents independent work completed under the AICTE–EduSkills virtual internship framework.</a:t>
            </a:r>
            <a:endParaRPr lang="en-US" sz="1050" dirty="0"/>
          </a:p>
        </p:txBody>
      </p:sp>
      <p:sp>
        <p:nvSpPr>
          <p:cNvPr id="14" name="Text 11"/>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15"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FRONT MATTER</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Acknowledgement</a:t>
            </a:r>
            <a:endParaRPr lang="en-US" sz="3000" dirty="0"/>
          </a:p>
        </p:txBody>
      </p:sp>
      <p:sp>
        <p:nvSpPr>
          <p:cNvPr id="4" name="Shape 2"/>
          <p:cNvSpPr/>
          <p:nvPr/>
        </p:nvSpPr>
        <p:spPr>
          <a:xfrm>
            <a:off x="640080" y="1828800"/>
            <a:ext cx="1005840" cy="1005840"/>
          </a:xfrm>
          <a:prstGeom prst="ellipse">
            <a:avLst/>
          </a:prstGeom>
          <a:solidFill>
            <a:srgbClr val="00A896"/>
          </a:solidFill>
          <a:ln/>
        </p:spPr>
      </p:sp>
      <p:pic>
        <p:nvPicPr>
          <p:cNvPr id="5" name="Image 0" descr="/home/claude/ppt/icon_bulb.png">    </p:cNvPr>
          <p:cNvPicPr>
            <a:picLocks noChangeAspect="1"/>
          </p:cNvPicPr>
          <p:nvPr/>
        </p:nvPicPr>
        <p:blipFill>
          <a:blip r:embed="rId1"/>
          <a:stretch>
            <a:fillRect/>
          </a:stretch>
        </p:blipFill>
        <p:spPr>
          <a:xfrm>
            <a:off x="770839" y="1959559"/>
            <a:ext cx="744322" cy="744322"/>
          </a:xfrm>
          <a:prstGeom prst="rect">
            <a:avLst/>
          </a:prstGeom>
        </p:spPr>
      </p:pic>
      <p:sp>
        <p:nvSpPr>
          <p:cNvPr id="6" name="Shape 3"/>
          <p:cNvSpPr/>
          <p:nvPr/>
        </p:nvSpPr>
        <p:spPr>
          <a:xfrm>
            <a:off x="1965960" y="1691640"/>
            <a:ext cx="9646920" cy="2834640"/>
          </a:xfrm>
          <a:prstGeom prst="roundRect">
            <a:avLst>
              <a:gd name="adj" fmla="val 2258"/>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7" name="Text 4"/>
          <p:cNvSpPr/>
          <p:nvPr/>
        </p:nvSpPr>
        <p:spPr>
          <a:xfrm>
            <a:off x="2286000" y="1965960"/>
            <a:ext cx="9052560" cy="2331720"/>
          </a:xfrm>
          <a:prstGeom prst="rect">
            <a:avLst/>
          </a:prstGeom>
          <a:noFill/>
          <a:ln/>
        </p:spPr>
        <p:txBody>
          <a:bodyPr wrap="square" lIns="0" tIns="0" rIns="0" bIns="0" rtlCol="0" anchor="t"/>
          <a:lstStyle/>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I am using this opportunity to express my gratitude to everyone who supported me throughout the internship program. I am thankful for their aspiring guidance, invaluable constructive criticism, and friendly advice extended to me during this work.</a:t>
            </a:r>
            <a:endParaRPr lang="en-US" sz="1400" dirty="0"/>
          </a:p>
          <a:p>
            <a:pPr indent="0" marL="0">
              <a:lnSpc>
                <a:spcPct val="135000"/>
              </a:lnSpc>
              <a:buNone/>
            </a:pPr>
            <a:endParaRPr lang="en-US" sz="1400" dirty="0"/>
          </a:p>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I am sincerely grateful to them for sharing their truthful and illuminating views on a number of issues related to this work. I would also like to express my heartfelt gratitude to my parents for their blessings and continued support.</a:t>
            </a:r>
            <a:endParaRPr lang="en-US" sz="1400" dirty="0"/>
          </a:p>
        </p:txBody>
      </p:sp>
      <p:sp>
        <p:nvSpPr>
          <p:cNvPr id="8" name="Shape 5"/>
          <p:cNvSpPr/>
          <p:nvPr/>
        </p:nvSpPr>
        <p:spPr>
          <a:xfrm>
            <a:off x="2286000" y="4800600"/>
            <a:ext cx="2194560" cy="0"/>
          </a:xfrm>
          <a:prstGeom prst="line">
            <a:avLst/>
          </a:prstGeom>
          <a:noFill/>
          <a:ln w="19050">
            <a:solidFill>
              <a:srgbClr val="028090"/>
            </a:solidFill>
            <a:prstDash val="solid"/>
          </a:ln>
        </p:spPr>
      </p:sp>
      <p:sp>
        <p:nvSpPr>
          <p:cNvPr id="9" name="Text 6"/>
          <p:cNvSpPr/>
          <p:nvPr/>
        </p:nvSpPr>
        <p:spPr>
          <a:xfrm>
            <a:off x="2286000" y="4864608"/>
            <a:ext cx="3200400" cy="274320"/>
          </a:xfrm>
          <a:prstGeom prst="rect">
            <a:avLst/>
          </a:prstGeom>
          <a:noFill/>
          <a:ln/>
        </p:spPr>
        <p:txBody>
          <a:bodyPr wrap="square" lIns="0" tIns="0" rIns="0" bIns="0" rtlCol="0" anchor="ctr"/>
          <a:lstStyle/>
          <a:p>
            <a:pPr indent="0" marL="0">
              <a:buNone/>
            </a:pPr>
            <a:r>
              <a:rPr lang="en-US" sz="1400" i="1" dirty="0">
                <a:solidFill>
                  <a:srgbClr val="13282C"/>
                </a:solidFill>
                <a:latin typeface="Cambria" pitchFamily="34" charset="0"/>
                <a:ea typeface="Cambria" pitchFamily="34" charset="-122"/>
                <a:cs typeface="Cambria" pitchFamily="34" charset="-120"/>
              </a:rPr>
              <a:t>Pallavi Bora</a:t>
            </a:r>
            <a:endParaRPr lang="en-US" sz="1400" dirty="0"/>
          </a:p>
        </p:txBody>
      </p:sp>
      <p:sp>
        <p:nvSpPr>
          <p:cNvPr id="10" name="Text 7"/>
          <p:cNvSpPr/>
          <p:nvPr/>
        </p:nvSpPr>
        <p:spPr>
          <a:xfrm>
            <a:off x="2286000" y="5138928"/>
            <a:ext cx="3657600" cy="274320"/>
          </a:xfrm>
          <a:prstGeom prst="rect">
            <a:avLst/>
          </a:prstGeom>
          <a:noFill/>
          <a:ln/>
        </p:spPr>
        <p:txBody>
          <a:bodyPr wrap="square" lIns="0" tIns="0" rIns="0" bIns="0" rtlCol="0" anchor="ctr"/>
          <a:lstStyle/>
          <a:p>
            <a:pPr indent="0" marL="0">
              <a:buNone/>
            </a:pPr>
            <a:r>
              <a:rPr lang="en-US" sz="1150" dirty="0">
                <a:solidFill>
                  <a:srgbClr val="5B7278"/>
                </a:solidFill>
                <a:latin typeface="Calibri" pitchFamily="34" charset="0"/>
                <a:ea typeface="Calibri" pitchFamily="34" charset="-122"/>
                <a:cs typeface="Calibri" pitchFamily="34" charset="-120"/>
              </a:rPr>
              <a:t>Roll No.: 25SCS1003003067</a:t>
            </a:r>
            <a:endParaRPr lang="en-US" sz="1150" dirty="0"/>
          </a:p>
        </p:txBody>
      </p:sp>
      <p:sp>
        <p:nvSpPr>
          <p:cNvPr id="11" name="Text 8"/>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12" name="Text 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PROJECT DESCRIPTION  ·  4.10</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Internship Completion Certificate</a:t>
            </a:r>
            <a:endParaRPr lang="en-US" sz="3000" dirty="0"/>
          </a:p>
        </p:txBody>
      </p:sp>
      <p:sp>
        <p:nvSpPr>
          <p:cNvPr id="4" name="Text 2"/>
          <p:cNvSpPr/>
          <p:nvPr/>
        </p:nvSpPr>
        <p:spPr>
          <a:xfrm>
            <a:off x="548640" y="1508760"/>
            <a:ext cx="10881360" cy="594360"/>
          </a:xfrm>
          <a:prstGeom prst="rect">
            <a:avLst/>
          </a:prstGeom>
          <a:noFill/>
          <a:ln/>
        </p:spPr>
        <p:txBody>
          <a:bodyPr wrap="square" lIns="0" tIns="0" rIns="0" bIns="0" rtlCol="0" anchor="t"/>
          <a:lstStyle/>
          <a:p>
            <a:pPr indent="0" marL="0">
              <a:lnSpc>
                <a:spcPct val="130000"/>
              </a:lnSpc>
              <a:buNone/>
            </a:pPr>
            <a:r>
              <a:rPr lang="en-US" sz="1350" dirty="0">
                <a:solidFill>
                  <a:srgbClr val="13282C"/>
                </a:solidFill>
                <a:latin typeface="Calibri" pitchFamily="34" charset="0"/>
                <a:ea typeface="Calibri" pitchFamily="34" charset="-122"/>
                <a:cs typeface="Calibri" pitchFamily="34" charset="-120"/>
              </a:rPr>
              <a:t>The internship completion certificate issued jointly by AICTE, EduSkills, and Siemens records successful completion of the Data Science Master Virtual Internship from June 2026 to August 2026, with an overall grade of E (Excellent).</a:t>
            </a:r>
            <a:endParaRPr lang="en-US" sz="1350" dirty="0"/>
          </a:p>
        </p:txBody>
      </p:sp>
      <p:sp>
        <p:nvSpPr>
          <p:cNvPr id="5" name="Shape 3"/>
          <p:cNvSpPr/>
          <p:nvPr/>
        </p:nvSpPr>
        <p:spPr>
          <a:xfrm>
            <a:off x="4459101" y="2240280"/>
            <a:ext cx="3270749" cy="4434840"/>
          </a:xfrm>
          <a:prstGeom prst="roundRect">
            <a:avLst>
              <a:gd name="adj" fmla="val 1118"/>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pic>
        <p:nvPicPr>
          <p:cNvPr id="6" name="Image 0" descr="/home/claude/ppt/cert_new-1.png">    </p:cNvPr>
          <p:cNvPicPr>
            <a:picLocks noChangeAspect="1"/>
          </p:cNvPicPr>
          <p:nvPr/>
        </p:nvPicPr>
        <p:blipFill>
          <a:blip r:embed="rId1"/>
          <a:stretch>
            <a:fillRect/>
          </a:stretch>
        </p:blipFill>
        <p:spPr>
          <a:xfrm>
            <a:off x="4687701" y="2468880"/>
            <a:ext cx="2813549" cy="3977640"/>
          </a:xfrm>
          <a:prstGeom prst="rect">
            <a:avLst/>
          </a:prstGeom>
        </p:spPr>
      </p:pic>
      <p:sp>
        <p:nvSpPr>
          <p:cNvPr id="7" name="Text 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4.1</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548640" y="1572768"/>
            <a:ext cx="6675120" cy="3108960"/>
          </a:xfrm>
          <a:prstGeom prst="rect">
            <a:avLst/>
          </a:prstGeom>
          <a:noFill/>
          <a:ln/>
        </p:spPr>
        <p:txBody>
          <a:bodyPr wrap="square" lIns="0" tIns="0" rIns="0" bIns="0" rtlCol="0" anchor="t"/>
          <a:lstStyle/>
          <a:p>
            <a:pPr indent="0" marL="0">
              <a:lnSpc>
                <a:spcPct val="138000"/>
              </a:lnSpc>
              <a:buNone/>
            </a:pPr>
            <a:r>
              <a:rPr lang="en-US" sz="1450" dirty="0">
                <a:solidFill>
                  <a:srgbClr val="13282C"/>
                </a:solidFill>
                <a:latin typeface="Calibri" pitchFamily="34" charset="0"/>
                <a:ea typeface="Calibri" pitchFamily="34" charset="-122"/>
                <a:cs typeface="Calibri" pitchFamily="34" charset="-120"/>
              </a:rPr>
              <a:t>This report summarises the Data Science Master Virtual Internship, undertaken under the AICTE–EduSkills National Internship Portal initiative and supported by Siemens Industry Software (India) Pvt. Ltd. Completed over an 8-week duration (June–August 2026) alongside the B.Tech CSE programme at IILM University, the internship combined structured weekly modules, practical assessments, and a project-based approach to bridge the gap between academic learning and industry practice — using the RapidMiner AI Hub and associated Siemens data science tools.</a:t>
            </a:r>
            <a:endParaRPr lang="en-US" sz="1450" dirty="0"/>
          </a:p>
        </p:txBody>
      </p:sp>
      <p:sp>
        <p:nvSpPr>
          <p:cNvPr id="5" name="Shape 3"/>
          <p:cNvSpPr/>
          <p:nvPr/>
        </p:nvSpPr>
        <p:spPr>
          <a:xfrm>
            <a:off x="7635240" y="1554480"/>
            <a:ext cx="658368" cy="658368"/>
          </a:xfrm>
          <a:prstGeom prst="ellipse">
            <a:avLst/>
          </a:prstGeom>
          <a:solidFill>
            <a:srgbClr val="028090"/>
          </a:solidFill>
          <a:ln/>
        </p:spPr>
      </p:sp>
      <p:pic>
        <p:nvPicPr>
          <p:cNvPr id="6" name="Image 0" descr="/home/claude/ppt/icon_cloud.png">    </p:cNvPr>
          <p:cNvPicPr>
            <a:picLocks noChangeAspect="1"/>
          </p:cNvPicPr>
          <p:nvPr/>
        </p:nvPicPr>
        <p:blipFill>
          <a:blip r:embed="rId1"/>
          <a:stretch>
            <a:fillRect/>
          </a:stretch>
        </p:blipFill>
        <p:spPr>
          <a:xfrm>
            <a:off x="7720828" y="1640068"/>
            <a:ext cx="487192" cy="487192"/>
          </a:xfrm>
          <a:prstGeom prst="rect">
            <a:avLst/>
          </a:prstGeom>
        </p:spPr>
      </p:pic>
      <p:sp>
        <p:nvSpPr>
          <p:cNvPr id="7" name="Text 4"/>
          <p:cNvSpPr/>
          <p:nvPr/>
        </p:nvSpPr>
        <p:spPr>
          <a:xfrm>
            <a:off x="8458200" y="1536192"/>
            <a:ext cx="3200400" cy="292608"/>
          </a:xfrm>
          <a:prstGeom prst="rect">
            <a:avLst/>
          </a:prstGeom>
          <a:noFill/>
          <a:ln/>
        </p:spPr>
        <p:txBody>
          <a:bodyPr wrap="square" lIns="0" tIns="0" rIns="0" bIns="0" rtlCol="0" anchor="ctr"/>
          <a:lstStyle/>
          <a:p>
            <a:pPr indent="0" marL="0">
              <a:buNone/>
            </a:pPr>
            <a:r>
              <a:rPr lang="en-US" sz="1300" b="1" dirty="0">
                <a:solidFill>
                  <a:srgbClr val="13282C"/>
                </a:solidFill>
                <a:latin typeface="Calibri" pitchFamily="34" charset="0"/>
                <a:ea typeface="Calibri" pitchFamily="34" charset="-122"/>
                <a:cs typeface="Calibri" pitchFamily="34" charset="-120"/>
              </a:rPr>
              <a:t>Delivery mode</a:t>
            </a:r>
            <a:endParaRPr lang="en-US" sz="1300" dirty="0"/>
          </a:p>
        </p:txBody>
      </p:sp>
      <p:sp>
        <p:nvSpPr>
          <p:cNvPr id="8" name="Text 5"/>
          <p:cNvSpPr/>
          <p:nvPr/>
        </p:nvSpPr>
        <p:spPr>
          <a:xfrm>
            <a:off x="8458200" y="1828800"/>
            <a:ext cx="3200400" cy="320040"/>
          </a:xfrm>
          <a:prstGeom prst="rect">
            <a:avLst/>
          </a:prstGeom>
          <a:noFill/>
          <a:ln/>
        </p:spPr>
        <p:txBody>
          <a:bodyPr wrap="square" lIns="0" tIns="0" rIns="0" bIns="0" rtlCol="0" anchor="ctr"/>
          <a:lstStyle/>
          <a:p>
            <a:pPr indent="0" marL="0">
              <a:buNone/>
            </a:pPr>
            <a:r>
              <a:rPr lang="en-US" sz="1150" dirty="0">
                <a:solidFill>
                  <a:srgbClr val="5B7278"/>
                </a:solidFill>
                <a:latin typeface="Calibri" pitchFamily="34" charset="0"/>
                <a:ea typeface="Calibri" pitchFamily="34" charset="-122"/>
                <a:cs typeface="Calibri" pitchFamily="34" charset="-120"/>
              </a:rPr>
              <a:t>Fully virtual, self-paced</a:t>
            </a:r>
            <a:endParaRPr lang="en-US" sz="1150" dirty="0"/>
          </a:p>
        </p:txBody>
      </p:sp>
      <p:sp>
        <p:nvSpPr>
          <p:cNvPr id="9" name="Shape 6"/>
          <p:cNvSpPr/>
          <p:nvPr/>
        </p:nvSpPr>
        <p:spPr>
          <a:xfrm>
            <a:off x="7635240" y="2487168"/>
            <a:ext cx="658368" cy="658368"/>
          </a:xfrm>
          <a:prstGeom prst="ellipse">
            <a:avLst/>
          </a:prstGeom>
          <a:solidFill>
            <a:srgbClr val="028090"/>
          </a:solidFill>
          <a:ln/>
        </p:spPr>
      </p:sp>
      <p:pic>
        <p:nvPicPr>
          <p:cNvPr id="10" name="Image 1" descr="/home/claude/ppt/icon_chart.png">    </p:cNvPr>
          <p:cNvPicPr>
            <a:picLocks noChangeAspect="1"/>
          </p:cNvPicPr>
          <p:nvPr/>
        </p:nvPicPr>
        <p:blipFill>
          <a:blip r:embed="rId2"/>
          <a:stretch>
            <a:fillRect/>
          </a:stretch>
        </p:blipFill>
        <p:spPr>
          <a:xfrm>
            <a:off x="7720828" y="2572756"/>
            <a:ext cx="487192" cy="487192"/>
          </a:xfrm>
          <a:prstGeom prst="rect">
            <a:avLst/>
          </a:prstGeom>
        </p:spPr>
      </p:pic>
      <p:sp>
        <p:nvSpPr>
          <p:cNvPr id="11" name="Text 7"/>
          <p:cNvSpPr/>
          <p:nvPr/>
        </p:nvSpPr>
        <p:spPr>
          <a:xfrm>
            <a:off x="8458200" y="2468880"/>
            <a:ext cx="3200400" cy="292608"/>
          </a:xfrm>
          <a:prstGeom prst="rect">
            <a:avLst/>
          </a:prstGeom>
          <a:noFill/>
          <a:ln/>
        </p:spPr>
        <p:txBody>
          <a:bodyPr wrap="square" lIns="0" tIns="0" rIns="0" bIns="0" rtlCol="0" anchor="ctr"/>
          <a:lstStyle/>
          <a:p>
            <a:pPr indent="0" marL="0">
              <a:buNone/>
            </a:pPr>
            <a:r>
              <a:rPr lang="en-US" sz="1300" b="1" dirty="0">
                <a:solidFill>
                  <a:srgbClr val="13282C"/>
                </a:solidFill>
                <a:latin typeface="Calibri" pitchFamily="34" charset="0"/>
                <a:ea typeface="Calibri" pitchFamily="34" charset="-122"/>
                <a:cs typeface="Calibri" pitchFamily="34" charset="-120"/>
              </a:rPr>
              <a:t>Duration</a:t>
            </a:r>
            <a:endParaRPr lang="en-US" sz="1300" dirty="0"/>
          </a:p>
        </p:txBody>
      </p:sp>
      <p:sp>
        <p:nvSpPr>
          <p:cNvPr id="12" name="Text 8"/>
          <p:cNvSpPr/>
          <p:nvPr/>
        </p:nvSpPr>
        <p:spPr>
          <a:xfrm>
            <a:off x="8458200" y="2761488"/>
            <a:ext cx="3200400" cy="320040"/>
          </a:xfrm>
          <a:prstGeom prst="rect">
            <a:avLst/>
          </a:prstGeom>
          <a:noFill/>
          <a:ln/>
        </p:spPr>
        <p:txBody>
          <a:bodyPr wrap="square" lIns="0" tIns="0" rIns="0" bIns="0" rtlCol="0" anchor="ctr"/>
          <a:lstStyle/>
          <a:p>
            <a:pPr indent="0" marL="0">
              <a:buNone/>
            </a:pPr>
            <a:r>
              <a:rPr lang="en-US" sz="1150" dirty="0">
                <a:solidFill>
                  <a:srgbClr val="5B7278"/>
                </a:solidFill>
                <a:latin typeface="Calibri" pitchFamily="34" charset="0"/>
                <a:ea typeface="Calibri" pitchFamily="34" charset="-122"/>
                <a:cs typeface="Calibri" pitchFamily="34" charset="-120"/>
              </a:rPr>
              <a:t>8 weeks, June – Aug 2026</a:t>
            </a:r>
            <a:endParaRPr lang="en-US" sz="1150" dirty="0"/>
          </a:p>
        </p:txBody>
      </p:sp>
      <p:sp>
        <p:nvSpPr>
          <p:cNvPr id="13" name="Shape 9"/>
          <p:cNvSpPr/>
          <p:nvPr/>
        </p:nvSpPr>
        <p:spPr>
          <a:xfrm>
            <a:off x="7635240" y="3419856"/>
            <a:ext cx="658368" cy="658368"/>
          </a:xfrm>
          <a:prstGeom prst="ellipse">
            <a:avLst/>
          </a:prstGeom>
          <a:solidFill>
            <a:srgbClr val="028090"/>
          </a:solidFill>
          <a:ln/>
        </p:spPr>
      </p:sp>
      <p:pic>
        <p:nvPicPr>
          <p:cNvPr id="14" name="Image 2" descr="/home/claude/ppt/icon_cogs.png">    </p:cNvPr>
          <p:cNvPicPr>
            <a:picLocks noChangeAspect="1"/>
          </p:cNvPicPr>
          <p:nvPr/>
        </p:nvPicPr>
        <p:blipFill>
          <a:blip r:embed="rId3"/>
          <a:stretch>
            <a:fillRect/>
          </a:stretch>
        </p:blipFill>
        <p:spPr>
          <a:xfrm>
            <a:off x="7720828" y="3505444"/>
            <a:ext cx="487192" cy="487192"/>
          </a:xfrm>
          <a:prstGeom prst="rect">
            <a:avLst/>
          </a:prstGeom>
        </p:spPr>
      </p:pic>
      <p:sp>
        <p:nvSpPr>
          <p:cNvPr id="15" name="Text 10"/>
          <p:cNvSpPr/>
          <p:nvPr/>
        </p:nvSpPr>
        <p:spPr>
          <a:xfrm>
            <a:off x="8458200" y="3401568"/>
            <a:ext cx="3200400" cy="292608"/>
          </a:xfrm>
          <a:prstGeom prst="rect">
            <a:avLst/>
          </a:prstGeom>
          <a:noFill/>
          <a:ln/>
        </p:spPr>
        <p:txBody>
          <a:bodyPr wrap="square" lIns="0" tIns="0" rIns="0" bIns="0" rtlCol="0" anchor="ctr"/>
          <a:lstStyle/>
          <a:p>
            <a:pPr indent="0" marL="0">
              <a:buNone/>
            </a:pPr>
            <a:r>
              <a:rPr lang="en-US" sz="1300" b="1" dirty="0">
                <a:solidFill>
                  <a:srgbClr val="13282C"/>
                </a:solidFill>
                <a:latin typeface="Calibri" pitchFamily="34" charset="0"/>
                <a:ea typeface="Calibri" pitchFamily="34" charset="-122"/>
                <a:cs typeface="Calibri" pitchFamily="34" charset="-120"/>
              </a:rPr>
              <a:t>Platform</a:t>
            </a:r>
            <a:endParaRPr lang="en-US" sz="1300" dirty="0"/>
          </a:p>
        </p:txBody>
      </p:sp>
      <p:sp>
        <p:nvSpPr>
          <p:cNvPr id="16" name="Text 11"/>
          <p:cNvSpPr/>
          <p:nvPr/>
        </p:nvSpPr>
        <p:spPr>
          <a:xfrm>
            <a:off x="8458200" y="3694176"/>
            <a:ext cx="3200400" cy="320040"/>
          </a:xfrm>
          <a:prstGeom prst="rect">
            <a:avLst/>
          </a:prstGeom>
          <a:noFill/>
          <a:ln/>
        </p:spPr>
        <p:txBody>
          <a:bodyPr wrap="square" lIns="0" tIns="0" rIns="0" bIns="0" rtlCol="0" anchor="ctr"/>
          <a:lstStyle/>
          <a:p>
            <a:pPr indent="0" marL="0">
              <a:buNone/>
            </a:pPr>
            <a:r>
              <a:rPr lang="en-US" sz="1150" dirty="0">
                <a:solidFill>
                  <a:srgbClr val="5B7278"/>
                </a:solidFill>
                <a:latin typeface="Calibri" pitchFamily="34" charset="0"/>
                <a:ea typeface="Calibri" pitchFamily="34" charset="-122"/>
                <a:cs typeface="Calibri" pitchFamily="34" charset="-120"/>
              </a:rPr>
              <a:t>RapidMiner AI Hub</a:t>
            </a:r>
            <a:endParaRPr lang="en-US" sz="1150" dirty="0"/>
          </a:p>
        </p:txBody>
      </p:sp>
      <p:sp>
        <p:nvSpPr>
          <p:cNvPr id="17" name="Shape 12"/>
          <p:cNvSpPr/>
          <p:nvPr/>
        </p:nvSpPr>
        <p:spPr>
          <a:xfrm>
            <a:off x="548640" y="4892040"/>
            <a:ext cx="10881360" cy="1234440"/>
          </a:xfrm>
          <a:prstGeom prst="roundRect">
            <a:avLst>
              <a:gd name="adj" fmla="val 5185"/>
            </a:avLst>
          </a:prstGeom>
          <a:solidFill>
            <a:srgbClr val="028090"/>
          </a:solidFill>
          <a:ln/>
          <a:effectLst>
            <a:outerShdw sx="100000" sy="100000" kx="0" ky="0" algn="bl" rotWithShape="0" blurRad="101600" dist="38100" dir="5400000">
              <a:srgbClr val="1B2A2F">
                <a:alpha val="18000"/>
              </a:srgbClr>
            </a:outerShdw>
          </a:effectLst>
        </p:spPr>
      </p:sp>
      <p:sp>
        <p:nvSpPr>
          <p:cNvPr id="18" name="Text 13"/>
          <p:cNvSpPr/>
          <p:nvPr/>
        </p:nvSpPr>
        <p:spPr>
          <a:xfrm>
            <a:off x="868680" y="5029200"/>
            <a:ext cx="292608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Goal of the internship</a:t>
            </a:r>
            <a:endParaRPr lang="en-US" sz="1400" dirty="0"/>
          </a:p>
        </p:txBody>
      </p:sp>
      <p:sp>
        <p:nvSpPr>
          <p:cNvPr id="19" name="Text 14"/>
          <p:cNvSpPr/>
          <p:nvPr/>
        </p:nvSpPr>
        <p:spPr>
          <a:xfrm>
            <a:off x="3886200" y="5029200"/>
            <a:ext cx="7315200" cy="914400"/>
          </a:xfrm>
          <a:prstGeom prst="rect">
            <a:avLst/>
          </a:prstGeom>
          <a:noFill/>
          <a:ln/>
        </p:spPr>
        <p:txBody>
          <a:bodyPr wrap="square" lIns="0" tIns="0" rIns="0" bIns="0" rtlCol="0" anchor="t"/>
          <a:lstStyle/>
          <a:p>
            <a:pPr indent="0" marL="0">
              <a:lnSpc>
                <a:spcPct val="125000"/>
              </a:lnSpc>
              <a:buNone/>
            </a:pPr>
            <a:r>
              <a:rPr lang="en-US" sz="1300" dirty="0">
                <a:solidFill>
                  <a:srgbClr val="E1F3F1"/>
                </a:solidFill>
                <a:latin typeface="Calibri" pitchFamily="34" charset="0"/>
                <a:ea typeface="Calibri" pitchFamily="34" charset="-122"/>
                <a:cs typeface="Calibri" pitchFamily="34" charset="-120"/>
              </a:rPr>
              <a:t>Bridge academic learning with real-world data engineering, machine learning, and platform administration practice.</a:t>
            </a:r>
            <a:endParaRPr lang="en-US" sz="1300" dirty="0"/>
          </a:p>
        </p:txBody>
      </p:sp>
      <p:sp>
        <p:nvSpPr>
          <p:cNvPr id="20" name="Text 15"/>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1"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4.2</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Organization Profile</a:t>
            </a:r>
            <a:endParaRPr lang="en-US" sz="3000" dirty="0"/>
          </a:p>
        </p:txBody>
      </p:sp>
      <p:sp>
        <p:nvSpPr>
          <p:cNvPr id="4" name="Shape 2"/>
          <p:cNvSpPr/>
          <p:nvPr/>
        </p:nvSpPr>
        <p:spPr>
          <a:xfrm>
            <a:off x="548640" y="1691640"/>
            <a:ext cx="3520440" cy="4160520"/>
          </a:xfrm>
          <a:prstGeom prst="roundRect">
            <a:avLst>
              <a:gd name="adj" fmla="val 1818"/>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5" name="Shape 3"/>
          <p:cNvSpPr/>
          <p:nvPr/>
        </p:nvSpPr>
        <p:spPr>
          <a:xfrm>
            <a:off x="868680" y="2011680"/>
            <a:ext cx="868680" cy="868680"/>
          </a:xfrm>
          <a:prstGeom prst="ellipse">
            <a:avLst/>
          </a:prstGeom>
          <a:solidFill>
            <a:srgbClr val="00A896"/>
          </a:solidFill>
          <a:ln/>
        </p:spPr>
      </p:sp>
      <p:pic>
        <p:nvPicPr>
          <p:cNvPr id="6" name="Image 0" descr="/home/claude/ppt/icon_building.png">    </p:cNvPr>
          <p:cNvPicPr>
            <a:picLocks noChangeAspect="1"/>
          </p:cNvPicPr>
          <p:nvPr/>
        </p:nvPicPr>
        <p:blipFill>
          <a:blip r:embed="rId1"/>
          <a:stretch>
            <a:fillRect/>
          </a:stretch>
        </p:blipFill>
        <p:spPr>
          <a:xfrm>
            <a:off x="981608" y="2124608"/>
            <a:ext cx="642823" cy="642823"/>
          </a:xfrm>
          <a:prstGeom prst="rect">
            <a:avLst/>
          </a:prstGeom>
        </p:spPr>
      </p:pic>
      <p:sp>
        <p:nvSpPr>
          <p:cNvPr id="7" name="Text 4"/>
          <p:cNvSpPr/>
          <p:nvPr/>
        </p:nvSpPr>
        <p:spPr>
          <a:xfrm>
            <a:off x="822960" y="3063240"/>
            <a:ext cx="2971800" cy="685800"/>
          </a:xfrm>
          <a:prstGeom prst="rect">
            <a:avLst/>
          </a:prstGeom>
          <a:noFill/>
          <a:ln/>
        </p:spPr>
        <p:txBody>
          <a:bodyPr wrap="square" lIns="0" tIns="0" rIns="0" bIns="0" rtlCol="0" anchor="t"/>
          <a:lstStyle/>
          <a:p>
            <a:pPr indent="0" marL="0">
              <a:lnSpc>
                <a:spcPct val="110000"/>
              </a:lnSpc>
              <a:buNone/>
            </a:pPr>
            <a:r>
              <a:rPr lang="en-US" sz="1550" b="1" dirty="0">
                <a:solidFill>
                  <a:srgbClr val="13282C"/>
                </a:solidFill>
                <a:latin typeface="Cambria" pitchFamily="34" charset="0"/>
                <a:ea typeface="Cambria" pitchFamily="34" charset="-122"/>
                <a:cs typeface="Cambria" pitchFamily="34" charset="-120"/>
              </a:rPr>
              <a:t>Siemens Industry Software</a:t>
            </a:r>
            <a:endParaRPr lang="en-US" sz="1550" dirty="0"/>
          </a:p>
        </p:txBody>
      </p:sp>
      <p:sp>
        <p:nvSpPr>
          <p:cNvPr id="8" name="Text 5"/>
          <p:cNvSpPr/>
          <p:nvPr/>
        </p:nvSpPr>
        <p:spPr>
          <a:xfrm>
            <a:off x="822960" y="3794760"/>
            <a:ext cx="2971800" cy="192024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Global leader in industrial software and digital transformation; provides the RapidMiner platform and domain expertise.</a:t>
            </a:r>
            <a:endParaRPr lang="en-US" sz="1150" dirty="0"/>
          </a:p>
        </p:txBody>
      </p:sp>
      <p:sp>
        <p:nvSpPr>
          <p:cNvPr id="9" name="Shape 6"/>
          <p:cNvSpPr/>
          <p:nvPr/>
        </p:nvSpPr>
        <p:spPr>
          <a:xfrm>
            <a:off x="4315968" y="1691640"/>
            <a:ext cx="3520440" cy="4160520"/>
          </a:xfrm>
          <a:prstGeom prst="roundRect">
            <a:avLst>
              <a:gd name="adj" fmla="val 1818"/>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0" name="Shape 7"/>
          <p:cNvSpPr/>
          <p:nvPr/>
        </p:nvSpPr>
        <p:spPr>
          <a:xfrm>
            <a:off x="4636008" y="2011680"/>
            <a:ext cx="868680" cy="868680"/>
          </a:xfrm>
          <a:prstGeom prst="ellipse">
            <a:avLst/>
          </a:prstGeom>
          <a:solidFill>
            <a:srgbClr val="00A896"/>
          </a:solidFill>
          <a:ln/>
        </p:spPr>
      </p:sp>
      <p:pic>
        <p:nvPicPr>
          <p:cNvPr id="11" name="Image 1" descr="/home/claude/ppt/icon_grad.png">    </p:cNvPr>
          <p:cNvPicPr>
            <a:picLocks noChangeAspect="1"/>
          </p:cNvPicPr>
          <p:nvPr/>
        </p:nvPicPr>
        <p:blipFill>
          <a:blip r:embed="rId2"/>
          <a:stretch>
            <a:fillRect/>
          </a:stretch>
        </p:blipFill>
        <p:spPr>
          <a:xfrm>
            <a:off x="4748936" y="2124608"/>
            <a:ext cx="642823" cy="642823"/>
          </a:xfrm>
          <a:prstGeom prst="rect">
            <a:avLst/>
          </a:prstGeom>
        </p:spPr>
      </p:pic>
      <p:sp>
        <p:nvSpPr>
          <p:cNvPr id="12" name="Text 8"/>
          <p:cNvSpPr/>
          <p:nvPr/>
        </p:nvSpPr>
        <p:spPr>
          <a:xfrm>
            <a:off x="4590288" y="3063240"/>
            <a:ext cx="2971800" cy="685800"/>
          </a:xfrm>
          <a:prstGeom prst="rect">
            <a:avLst/>
          </a:prstGeom>
          <a:noFill/>
          <a:ln/>
        </p:spPr>
        <p:txBody>
          <a:bodyPr wrap="square" lIns="0" tIns="0" rIns="0" bIns="0" rtlCol="0" anchor="t"/>
          <a:lstStyle/>
          <a:p>
            <a:pPr indent="0" marL="0">
              <a:lnSpc>
                <a:spcPct val="110000"/>
              </a:lnSpc>
              <a:buNone/>
            </a:pPr>
            <a:r>
              <a:rPr lang="en-US" sz="1550" b="1" dirty="0">
                <a:solidFill>
                  <a:srgbClr val="13282C"/>
                </a:solidFill>
                <a:latin typeface="Cambria" pitchFamily="34" charset="0"/>
                <a:ea typeface="Cambria" pitchFamily="34" charset="-122"/>
                <a:cs typeface="Cambria" pitchFamily="34" charset="-120"/>
              </a:rPr>
              <a:t>EduSkills Foundation</a:t>
            </a:r>
            <a:endParaRPr lang="en-US" sz="1550" dirty="0"/>
          </a:p>
        </p:txBody>
      </p:sp>
      <p:sp>
        <p:nvSpPr>
          <p:cNvPr id="13" name="Text 9"/>
          <p:cNvSpPr/>
          <p:nvPr/>
        </p:nvSpPr>
        <p:spPr>
          <a:xfrm>
            <a:off x="4590288" y="3794760"/>
            <a:ext cx="2971800" cy="192024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AICTE-recognised skilling partner; responsible for curriculum design, learner assessment, and credential issuance.</a:t>
            </a:r>
            <a:endParaRPr lang="en-US" sz="1150" dirty="0"/>
          </a:p>
        </p:txBody>
      </p:sp>
      <p:sp>
        <p:nvSpPr>
          <p:cNvPr id="14" name="Shape 10"/>
          <p:cNvSpPr/>
          <p:nvPr/>
        </p:nvSpPr>
        <p:spPr>
          <a:xfrm>
            <a:off x="8083296" y="1691640"/>
            <a:ext cx="3520440" cy="4160520"/>
          </a:xfrm>
          <a:prstGeom prst="roundRect">
            <a:avLst>
              <a:gd name="adj" fmla="val 1818"/>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5" name="Shape 11"/>
          <p:cNvSpPr/>
          <p:nvPr/>
        </p:nvSpPr>
        <p:spPr>
          <a:xfrm>
            <a:off x="8403336" y="2011680"/>
            <a:ext cx="868680" cy="868680"/>
          </a:xfrm>
          <a:prstGeom prst="ellipse">
            <a:avLst/>
          </a:prstGeom>
          <a:solidFill>
            <a:srgbClr val="00A896"/>
          </a:solidFill>
          <a:ln/>
        </p:spPr>
      </p:sp>
      <p:pic>
        <p:nvPicPr>
          <p:cNvPr id="16" name="Image 2" descr="/home/claude/ppt/icon_university.png">    </p:cNvPr>
          <p:cNvPicPr>
            <a:picLocks noChangeAspect="1"/>
          </p:cNvPicPr>
          <p:nvPr/>
        </p:nvPicPr>
        <p:blipFill>
          <a:blip r:embed="rId3"/>
          <a:stretch>
            <a:fillRect/>
          </a:stretch>
        </p:blipFill>
        <p:spPr>
          <a:xfrm>
            <a:off x="8516264" y="2124608"/>
            <a:ext cx="642823" cy="642823"/>
          </a:xfrm>
          <a:prstGeom prst="rect">
            <a:avLst/>
          </a:prstGeom>
        </p:spPr>
      </p:pic>
      <p:sp>
        <p:nvSpPr>
          <p:cNvPr id="17" name="Text 12"/>
          <p:cNvSpPr/>
          <p:nvPr/>
        </p:nvSpPr>
        <p:spPr>
          <a:xfrm>
            <a:off x="8357616" y="3063240"/>
            <a:ext cx="2971800" cy="685800"/>
          </a:xfrm>
          <a:prstGeom prst="rect">
            <a:avLst/>
          </a:prstGeom>
          <a:noFill/>
          <a:ln/>
        </p:spPr>
        <p:txBody>
          <a:bodyPr wrap="square" lIns="0" tIns="0" rIns="0" bIns="0" rtlCol="0" anchor="t"/>
          <a:lstStyle/>
          <a:p>
            <a:pPr indent="0" marL="0">
              <a:lnSpc>
                <a:spcPct val="110000"/>
              </a:lnSpc>
              <a:buNone/>
            </a:pPr>
            <a:r>
              <a:rPr lang="en-US" sz="1550" b="1" dirty="0">
                <a:solidFill>
                  <a:srgbClr val="13282C"/>
                </a:solidFill>
                <a:latin typeface="Cambria" pitchFamily="34" charset="0"/>
                <a:ea typeface="Cambria" pitchFamily="34" charset="-122"/>
                <a:cs typeface="Cambria" pitchFamily="34" charset="-120"/>
              </a:rPr>
              <a:t>AICTE National Internship Portal</a:t>
            </a:r>
            <a:endParaRPr lang="en-US" sz="1550" dirty="0"/>
          </a:p>
        </p:txBody>
      </p:sp>
      <p:sp>
        <p:nvSpPr>
          <p:cNvPr id="18" name="Text 13"/>
          <p:cNvSpPr/>
          <p:nvPr/>
        </p:nvSpPr>
        <p:spPr>
          <a:xfrm>
            <a:off x="8357616" y="3794760"/>
            <a:ext cx="2971800" cy="192024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Ministry of Education initiative connecting students nationwide with structured virtual internship opportunities.</a:t>
            </a:r>
            <a:endParaRPr lang="en-US" sz="1150" dirty="0"/>
          </a:p>
        </p:txBody>
      </p:sp>
      <p:sp>
        <p:nvSpPr>
          <p:cNvPr id="19" name="Text 14"/>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0"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4.3</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94360" y="1965960"/>
            <a:ext cx="1371600" cy="1371600"/>
          </a:xfrm>
          <a:prstGeom prst="ellipse">
            <a:avLst/>
          </a:prstGeom>
          <a:solidFill>
            <a:srgbClr val="028090"/>
          </a:solidFill>
          <a:ln/>
        </p:spPr>
      </p:sp>
      <p:pic>
        <p:nvPicPr>
          <p:cNvPr id="5" name="Image 0" descr="/home/claude/ppt/icon_bullseye.png">    </p:cNvPr>
          <p:cNvPicPr>
            <a:picLocks noChangeAspect="1"/>
          </p:cNvPicPr>
          <p:nvPr/>
        </p:nvPicPr>
        <p:blipFill>
          <a:blip r:embed="rId1"/>
          <a:stretch>
            <a:fillRect/>
          </a:stretch>
        </p:blipFill>
        <p:spPr>
          <a:xfrm>
            <a:off x="772668" y="2144268"/>
            <a:ext cx="1014984" cy="1014984"/>
          </a:xfrm>
          <a:prstGeom prst="rect">
            <a:avLst/>
          </a:prstGeom>
        </p:spPr>
      </p:pic>
      <p:sp>
        <p:nvSpPr>
          <p:cNvPr id="6" name="Shape 3"/>
          <p:cNvSpPr/>
          <p:nvPr/>
        </p:nvSpPr>
        <p:spPr>
          <a:xfrm>
            <a:off x="2331720" y="1691640"/>
            <a:ext cx="9281160" cy="3017520"/>
          </a:xfrm>
          <a:prstGeom prst="roundRect">
            <a:avLst>
              <a:gd name="adj" fmla="val 2121"/>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7" name="Text 4"/>
          <p:cNvSpPr/>
          <p:nvPr/>
        </p:nvSpPr>
        <p:spPr>
          <a:xfrm>
            <a:off x="2651760" y="1965960"/>
            <a:ext cx="8686800" cy="2514600"/>
          </a:xfrm>
          <a:prstGeom prst="rect">
            <a:avLst/>
          </a:prstGeom>
          <a:noFill/>
          <a:ln/>
        </p:spPr>
        <p:txBody>
          <a:bodyPr wrap="square" lIns="0" tIns="0" rIns="0" bIns="0" rtlCol="0" anchor="t"/>
          <a:lstStyle/>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Organisations today generate large volumes of data but often lack skilled professionals capable of transforming this data into actionable business insight using structured, repeatable machine learning workflows.</a:t>
            </a:r>
            <a:endParaRPr lang="en-US" sz="1400" dirty="0"/>
          </a:p>
          <a:p>
            <a:pPr indent="0" marL="0">
              <a:lnSpc>
                <a:spcPct val="135000"/>
              </a:lnSpc>
              <a:buNone/>
            </a:pPr>
            <a:endParaRPr lang="en-US" sz="1400" dirty="0"/>
          </a:p>
          <a:p>
            <a:pPr indent="0" marL="0">
              <a:lnSpc>
                <a:spcPct val="135000"/>
              </a:lnSpc>
              <a:buNone/>
            </a:pPr>
            <a:r>
              <a:rPr lang="en-US" sz="1400" dirty="0">
                <a:solidFill>
                  <a:srgbClr val="13282C"/>
                </a:solidFill>
                <a:latin typeface="Calibri" pitchFamily="34" charset="0"/>
                <a:ea typeface="Calibri" pitchFamily="34" charset="-122"/>
                <a:cs typeface="Calibri" pitchFamily="34" charset="-120"/>
              </a:rPr>
              <a:t>The internship addressed this gap by developing practical competencies to identify suitable business problems for AI/ML, access and prepare data, build and evaluate machine learning models, and deploy and administer these models on an enterprise-grade platform — skills directly transferable to real industry data science roles.</a:t>
            </a:r>
            <a:endParaRPr lang="en-US" sz="1400" dirty="0"/>
          </a:p>
        </p:txBody>
      </p:sp>
      <p:sp>
        <p:nvSpPr>
          <p:cNvPr id="8" name="Shape 5"/>
          <p:cNvSpPr/>
          <p:nvPr/>
        </p:nvSpPr>
        <p:spPr>
          <a:xfrm>
            <a:off x="2331720" y="4892040"/>
            <a:ext cx="9281160" cy="1234440"/>
          </a:xfrm>
          <a:prstGeom prst="roundRect">
            <a:avLst>
              <a:gd name="adj" fmla="val 5185"/>
            </a:avLst>
          </a:prstGeom>
          <a:solidFill>
            <a:srgbClr val="E4F3F1"/>
          </a:solidFill>
          <a:ln/>
        </p:spPr>
      </p:sp>
      <p:sp>
        <p:nvSpPr>
          <p:cNvPr id="9" name="Text 6"/>
          <p:cNvSpPr/>
          <p:nvPr/>
        </p:nvSpPr>
        <p:spPr>
          <a:xfrm>
            <a:off x="2651760" y="5029200"/>
            <a:ext cx="2743200" cy="365760"/>
          </a:xfrm>
          <a:prstGeom prst="rect">
            <a:avLst/>
          </a:prstGeom>
          <a:noFill/>
          <a:ln/>
        </p:spPr>
        <p:txBody>
          <a:bodyPr wrap="square" lIns="0" tIns="0" rIns="0" bIns="0" rtlCol="0" anchor="ctr"/>
          <a:lstStyle/>
          <a:p>
            <a:pPr indent="0" marL="0">
              <a:buNone/>
            </a:pPr>
            <a:r>
              <a:rPr lang="en-US" sz="1300" b="1" dirty="0">
                <a:solidFill>
                  <a:srgbClr val="028090"/>
                </a:solidFill>
                <a:latin typeface="Cambria" pitchFamily="34" charset="0"/>
                <a:ea typeface="Cambria" pitchFamily="34" charset="-122"/>
                <a:cs typeface="Cambria" pitchFamily="34" charset="-120"/>
              </a:rPr>
              <a:t>Core gap addressed</a:t>
            </a:r>
            <a:endParaRPr lang="en-US" sz="1300" dirty="0"/>
          </a:p>
        </p:txBody>
      </p:sp>
      <p:sp>
        <p:nvSpPr>
          <p:cNvPr id="10" name="Text 7"/>
          <p:cNvSpPr/>
          <p:nvPr/>
        </p:nvSpPr>
        <p:spPr>
          <a:xfrm>
            <a:off x="5303520" y="5029200"/>
            <a:ext cx="6126480" cy="914400"/>
          </a:xfrm>
          <a:prstGeom prst="rect">
            <a:avLst/>
          </a:prstGeom>
          <a:noFill/>
          <a:ln/>
        </p:spPr>
        <p:txBody>
          <a:bodyPr wrap="square" lIns="0" tIns="0" rIns="0" bIns="0" rtlCol="0" anchor="t"/>
          <a:lstStyle/>
          <a:p>
            <a:pPr indent="0" marL="0">
              <a:lnSpc>
                <a:spcPct val="125000"/>
              </a:lnSpc>
              <a:buNone/>
            </a:pPr>
            <a:r>
              <a:rPr lang="en-US" sz="1300" i="1" dirty="0">
                <a:solidFill>
                  <a:srgbClr val="13282C"/>
                </a:solidFill>
                <a:latin typeface="Calibri" pitchFamily="34" charset="0"/>
                <a:ea typeface="Calibri" pitchFamily="34" charset="-122"/>
                <a:cs typeface="Calibri" pitchFamily="34" charset="-120"/>
              </a:rPr>
              <a:t>Data volume  →  skilled talent  →  actionable, repeatable ML workflows</a:t>
            </a:r>
            <a:endParaRPr lang="en-US" sz="1300" dirty="0"/>
          </a:p>
        </p:txBody>
      </p:sp>
      <p:sp>
        <p:nvSpPr>
          <p:cNvPr id="11" name="Text 8"/>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12" name="Text 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4.4</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9164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5" name="Shape 3"/>
          <p:cNvSpPr/>
          <p:nvPr/>
        </p:nvSpPr>
        <p:spPr>
          <a:xfrm>
            <a:off x="804672" y="1947672"/>
            <a:ext cx="640080" cy="640080"/>
          </a:xfrm>
          <a:prstGeom prst="ellipse">
            <a:avLst/>
          </a:prstGeom>
          <a:solidFill>
            <a:srgbClr val="028090"/>
          </a:solidFill>
          <a:ln/>
        </p:spPr>
      </p:sp>
      <p:pic>
        <p:nvPicPr>
          <p:cNvPr id="6" name="Image 0" descr="/home/claude/ppt/icon_bullseye.png">    </p:cNvPr>
          <p:cNvPicPr>
            <a:picLocks noChangeAspect="1"/>
          </p:cNvPicPr>
          <p:nvPr/>
        </p:nvPicPr>
        <p:blipFill>
          <a:blip r:embed="rId1"/>
          <a:stretch>
            <a:fillRect/>
          </a:stretch>
        </p:blipFill>
        <p:spPr>
          <a:xfrm>
            <a:off x="887882" y="2030882"/>
            <a:ext cx="473659" cy="473659"/>
          </a:xfrm>
          <a:prstGeom prst="rect">
            <a:avLst/>
          </a:prstGeom>
        </p:spPr>
      </p:pic>
      <p:sp>
        <p:nvSpPr>
          <p:cNvPr id="7" name="Text 4"/>
          <p:cNvSpPr/>
          <p:nvPr/>
        </p:nvSpPr>
        <p:spPr>
          <a:xfrm>
            <a:off x="804672" y="269748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Frame business problems as data science and ML use cases.</a:t>
            </a:r>
            <a:endParaRPr lang="en-US" sz="1200" dirty="0"/>
          </a:p>
        </p:txBody>
      </p:sp>
      <p:sp>
        <p:nvSpPr>
          <p:cNvPr id="8" name="Shape 5"/>
          <p:cNvSpPr/>
          <p:nvPr/>
        </p:nvSpPr>
        <p:spPr>
          <a:xfrm>
            <a:off x="4325112" y="169164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9" name="Shape 6"/>
          <p:cNvSpPr/>
          <p:nvPr/>
        </p:nvSpPr>
        <p:spPr>
          <a:xfrm>
            <a:off x="4581144" y="1947672"/>
            <a:ext cx="640080" cy="640080"/>
          </a:xfrm>
          <a:prstGeom prst="ellipse">
            <a:avLst/>
          </a:prstGeom>
          <a:solidFill>
            <a:srgbClr val="00A896"/>
          </a:solidFill>
          <a:ln/>
        </p:spPr>
      </p:sp>
      <p:pic>
        <p:nvPicPr>
          <p:cNvPr id="10" name="Image 1" descr="/home/claude/ppt/icon_database.png">    </p:cNvPr>
          <p:cNvPicPr>
            <a:picLocks noChangeAspect="1"/>
          </p:cNvPicPr>
          <p:nvPr/>
        </p:nvPicPr>
        <p:blipFill>
          <a:blip r:embed="rId2"/>
          <a:stretch>
            <a:fillRect/>
          </a:stretch>
        </p:blipFill>
        <p:spPr>
          <a:xfrm>
            <a:off x="4664354" y="2030882"/>
            <a:ext cx="473659" cy="473659"/>
          </a:xfrm>
          <a:prstGeom prst="rect">
            <a:avLst/>
          </a:prstGeom>
        </p:spPr>
      </p:pic>
      <p:sp>
        <p:nvSpPr>
          <p:cNvPr id="11" name="Text 7"/>
          <p:cNvSpPr/>
          <p:nvPr/>
        </p:nvSpPr>
        <p:spPr>
          <a:xfrm>
            <a:off x="4581144" y="269748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Access, load, transform, and calculate data using industry tools.</a:t>
            </a:r>
            <a:endParaRPr lang="en-US" sz="1200" dirty="0"/>
          </a:p>
        </p:txBody>
      </p:sp>
      <p:sp>
        <p:nvSpPr>
          <p:cNvPr id="12" name="Shape 8"/>
          <p:cNvSpPr/>
          <p:nvPr/>
        </p:nvSpPr>
        <p:spPr>
          <a:xfrm>
            <a:off x="8101584" y="169164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3" name="Shape 9"/>
          <p:cNvSpPr/>
          <p:nvPr/>
        </p:nvSpPr>
        <p:spPr>
          <a:xfrm>
            <a:off x="8357616" y="1947672"/>
            <a:ext cx="640080" cy="640080"/>
          </a:xfrm>
          <a:prstGeom prst="ellipse">
            <a:avLst/>
          </a:prstGeom>
          <a:solidFill>
            <a:srgbClr val="028090"/>
          </a:solidFill>
          <a:ln/>
        </p:spPr>
      </p:sp>
      <p:pic>
        <p:nvPicPr>
          <p:cNvPr id="14" name="Image 2" descr="/home/claude/ppt/icon_brain.png">    </p:cNvPr>
          <p:cNvPicPr>
            <a:picLocks noChangeAspect="1"/>
          </p:cNvPicPr>
          <p:nvPr/>
        </p:nvPicPr>
        <p:blipFill>
          <a:blip r:embed="rId3"/>
          <a:stretch>
            <a:fillRect/>
          </a:stretch>
        </p:blipFill>
        <p:spPr>
          <a:xfrm>
            <a:off x="8440826" y="2030882"/>
            <a:ext cx="473659" cy="473659"/>
          </a:xfrm>
          <a:prstGeom prst="rect">
            <a:avLst/>
          </a:prstGeom>
        </p:spPr>
      </p:pic>
      <p:sp>
        <p:nvSpPr>
          <p:cNvPr id="15" name="Text 10"/>
          <p:cNvSpPr/>
          <p:nvPr/>
        </p:nvSpPr>
        <p:spPr>
          <a:xfrm>
            <a:off x="8357616" y="269748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Build foundational and advanced machine learning models.</a:t>
            </a:r>
            <a:endParaRPr lang="en-US" sz="1200" dirty="0"/>
          </a:p>
        </p:txBody>
      </p:sp>
      <p:sp>
        <p:nvSpPr>
          <p:cNvPr id="16" name="Shape 11"/>
          <p:cNvSpPr/>
          <p:nvPr/>
        </p:nvSpPr>
        <p:spPr>
          <a:xfrm>
            <a:off x="548640" y="393192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7" name="Shape 12"/>
          <p:cNvSpPr/>
          <p:nvPr/>
        </p:nvSpPr>
        <p:spPr>
          <a:xfrm>
            <a:off x="804672" y="4187952"/>
            <a:ext cx="640080" cy="640080"/>
          </a:xfrm>
          <a:prstGeom prst="ellipse">
            <a:avLst/>
          </a:prstGeom>
          <a:solidFill>
            <a:srgbClr val="00A896"/>
          </a:solidFill>
          <a:ln/>
        </p:spPr>
      </p:sp>
      <p:pic>
        <p:nvPicPr>
          <p:cNvPr id="18" name="Image 3" descr="/home/claude/ppt/icon_cogs.png">    </p:cNvPr>
          <p:cNvPicPr>
            <a:picLocks noChangeAspect="1"/>
          </p:cNvPicPr>
          <p:nvPr/>
        </p:nvPicPr>
        <p:blipFill>
          <a:blip r:embed="rId4"/>
          <a:stretch>
            <a:fillRect/>
          </a:stretch>
        </p:blipFill>
        <p:spPr>
          <a:xfrm>
            <a:off x="887882" y="4271162"/>
            <a:ext cx="473659" cy="473659"/>
          </a:xfrm>
          <a:prstGeom prst="rect">
            <a:avLst/>
          </a:prstGeom>
        </p:spPr>
      </p:pic>
      <p:sp>
        <p:nvSpPr>
          <p:cNvPr id="19" name="Text 13"/>
          <p:cNvSpPr/>
          <p:nvPr/>
        </p:nvSpPr>
        <p:spPr>
          <a:xfrm>
            <a:off x="804672" y="493776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Master advanced data preparation and automation techniques.</a:t>
            </a:r>
            <a:endParaRPr lang="en-US" sz="1200" dirty="0"/>
          </a:p>
        </p:txBody>
      </p:sp>
      <p:sp>
        <p:nvSpPr>
          <p:cNvPr id="20" name="Shape 14"/>
          <p:cNvSpPr/>
          <p:nvPr/>
        </p:nvSpPr>
        <p:spPr>
          <a:xfrm>
            <a:off x="4325112" y="393192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21" name="Shape 15"/>
          <p:cNvSpPr/>
          <p:nvPr/>
        </p:nvSpPr>
        <p:spPr>
          <a:xfrm>
            <a:off x="4581144" y="4187952"/>
            <a:ext cx="640080" cy="640080"/>
          </a:xfrm>
          <a:prstGeom prst="ellipse">
            <a:avLst/>
          </a:prstGeom>
          <a:solidFill>
            <a:srgbClr val="028090"/>
          </a:solidFill>
          <a:ln/>
        </p:spPr>
      </p:sp>
      <p:pic>
        <p:nvPicPr>
          <p:cNvPr id="22" name="Image 4" descr="/home/claude/ppt/icon_cloud.png">    </p:cNvPr>
          <p:cNvPicPr>
            <a:picLocks noChangeAspect="1"/>
          </p:cNvPicPr>
          <p:nvPr/>
        </p:nvPicPr>
        <p:blipFill>
          <a:blip r:embed="rId5"/>
          <a:stretch>
            <a:fillRect/>
          </a:stretch>
        </p:blipFill>
        <p:spPr>
          <a:xfrm>
            <a:off x="4664354" y="4271162"/>
            <a:ext cx="473659" cy="473659"/>
          </a:xfrm>
          <a:prstGeom prst="rect">
            <a:avLst/>
          </a:prstGeom>
        </p:spPr>
      </p:pic>
      <p:sp>
        <p:nvSpPr>
          <p:cNvPr id="23" name="Text 16"/>
          <p:cNvSpPr/>
          <p:nvPr/>
        </p:nvSpPr>
        <p:spPr>
          <a:xfrm>
            <a:off x="4581144" y="493776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Deploy, monitor, and maintain ML models in production-like settings.</a:t>
            </a:r>
            <a:endParaRPr lang="en-US" sz="1200" dirty="0"/>
          </a:p>
        </p:txBody>
      </p:sp>
      <p:sp>
        <p:nvSpPr>
          <p:cNvPr id="24" name="Shape 17"/>
          <p:cNvSpPr/>
          <p:nvPr/>
        </p:nvSpPr>
        <p:spPr>
          <a:xfrm>
            <a:off x="8101584" y="3931920"/>
            <a:ext cx="3520440" cy="1965960"/>
          </a:xfrm>
          <a:prstGeom prst="roundRect">
            <a:avLst>
              <a:gd name="adj" fmla="val 325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25" name="Shape 18"/>
          <p:cNvSpPr/>
          <p:nvPr/>
        </p:nvSpPr>
        <p:spPr>
          <a:xfrm>
            <a:off x="8357616" y="4187952"/>
            <a:ext cx="640080" cy="640080"/>
          </a:xfrm>
          <a:prstGeom prst="ellipse">
            <a:avLst/>
          </a:prstGeom>
          <a:solidFill>
            <a:srgbClr val="00A896"/>
          </a:solidFill>
          <a:ln/>
        </p:spPr>
      </p:sp>
      <p:pic>
        <p:nvPicPr>
          <p:cNvPr id="26" name="Image 5" descr="/home/claude/ppt/icon_server.png">    </p:cNvPr>
          <p:cNvPicPr>
            <a:picLocks noChangeAspect="1"/>
          </p:cNvPicPr>
          <p:nvPr/>
        </p:nvPicPr>
        <p:blipFill>
          <a:blip r:embed="rId6"/>
          <a:stretch>
            <a:fillRect/>
          </a:stretch>
        </p:blipFill>
        <p:spPr>
          <a:xfrm>
            <a:off x="8440826" y="4271162"/>
            <a:ext cx="473659" cy="473659"/>
          </a:xfrm>
          <a:prstGeom prst="rect">
            <a:avLst/>
          </a:prstGeom>
        </p:spPr>
      </p:pic>
      <p:sp>
        <p:nvSpPr>
          <p:cNvPr id="27" name="Text 19"/>
          <p:cNvSpPr/>
          <p:nvPr/>
        </p:nvSpPr>
        <p:spPr>
          <a:xfrm>
            <a:off x="8357616" y="4937760"/>
            <a:ext cx="3008376" cy="777240"/>
          </a:xfrm>
          <a:prstGeom prst="rect">
            <a:avLst/>
          </a:prstGeom>
          <a:noFill/>
          <a:ln/>
        </p:spPr>
        <p:txBody>
          <a:bodyPr wrap="square" lIns="0" tIns="0" rIns="0" bIns="0" rtlCol="0" anchor="t"/>
          <a:lstStyle/>
          <a:p>
            <a:pPr indent="0" marL="0">
              <a:lnSpc>
                <a:spcPct val="125000"/>
              </a:lnSpc>
              <a:buNone/>
            </a:pPr>
            <a:r>
              <a:rPr lang="en-US" sz="1200" dirty="0">
                <a:solidFill>
                  <a:srgbClr val="13282C"/>
                </a:solidFill>
                <a:latin typeface="Calibri" pitchFamily="34" charset="0"/>
                <a:ea typeface="Calibri" pitchFamily="34" charset="-122"/>
                <a:cs typeface="Calibri" pitchFamily="34" charset="-120"/>
              </a:rPr>
              <a:t>Configure and administer the RapidMiner AI Hub platform.</a:t>
            </a:r>
            <a:endParaRPr lang="en-US" sz="1200" dirty="0"/>
          </a:p>
        </p:txBody>
      </p:sp>
      <p:sp>
        <p:nvSpPr>
          <p:cNvPr id="28" name="Text 20"/>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9" name="Text 2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4.5</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Scope of the Project</a:t>
            </a:r>
            <a:endParaRPr lang="en-US" sz="3000" dirty="0"/>
          </a:p>
        </p:txBody>
      </p:sp>
      <p:sp>
        <p:nvSpPr>
          <p:cNvPr id="4" name="Text 2"/>
          <p:cNvSpPr/>
          <p:nvPr/>
        </p:nvSpPr>
        <p:spPr>
          <a:xfrm>
            <a:off x="548640" y="1600200"/>
            <a:ext cx="10881360" cy="868680"/>
          </a:xfrm>
          <a:prstGeom prst="rect">
            <a:avLst/>
          </a:prstGeom>
          <a:noFill/>
          <a:ln/>
        </p:spPr>
        <p:txBody>
          <a:bodyPr wrap="square" lIns="0" tIns="0" rIns="0" bIns="0" rtlCol="0" anchor="t"/>
          <a:lstStyle/>
          <a:p>
            <a:pPr indent="0" marL="0">
              <a:lnSpc>
                <a:spcPct val="135000"/>
              </a:lnSpc>
              <a:buNone/>
            </a:pPr>
            <a:r>
              <a:rPr lang="en-US" sz="1450" dirty="0">
                <a:solidFill>
                  <a:srgbClr val="13282C"/>
                </a:solidFill>
                <a:latin typeface="Calibri" pitchFamily="34" charset="0"/>
                <a:ea typeface="Calibri" pitchFamily="34" charset="-122"/>
                <a:cs typeface="Calibri" pitchFamily="34" charset="-120"/>
              </a:rPr>
              <a:t>The scope of this internship was limited to the structured, week-wise virtual curriculum defined by Siemens and EduSkills under the “Data Science Master” track — covering the complete lifecycle of a data science project.</a:t>
            </a:r>
            <a:endParaRPr lang="en-US" sz="1450" dirty="0"/>
          </a:p>
        </p:txBody>
      </p:sp>
      <p:sp>
        <p:nvSpPr>
          <p:cNvPr id="5" name="Shape 3"/>
          <p:cNvSpPr/>
          <p:nvPr/>
        </p:nvSpPr>
        <p:spPr>
          <a:xfrm>
            <a:off x="548640" y="2788920"/>
            <a:ext cx="2514600" cy="1508760"/>
          </a:xfrm>
          <a:prstGeom prst="roundRect">
            <a:avLst>
              <a:gd name="adj" fmla="val 4848"/>
            </a:avLst>
          </a:prstGeom>
          <a:solidFill>
            <a:srgbClr val="028090"/>
          </a:solidFill>
          <a:ln/>
          <a:effectLst>
            <a:outerShdw sx="100000" sy="100000" kx="0" ky="0" algn="bl" rotWithShape="0" blurRad="101600" dist="38100" dir="5400000">
              <a:srgbClr val="1B2A2F">
                <a:alpha val="18000"/>
              </a:srgbClr>
            </a:outerShdw>
          </a:effectLst>
        </p:spPr>
      </p:sp>
      <p:sp>
        <p:nvSpPr>
          <p:cNvPr id="6" name="Text 4"/>
          <p:cNvSpPr/>
          <p:nvPr/>
        </p:nvSpPr>
        <p:spPr>
          <a:xfrm>
            <a:off x="713232" y="2898648"/>
            <a:ext cx="7315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13232" y="3410712"/>
            <a:ext cx="2185416" cy="777240"/>
          </a:xfrm>
          <a:prstGeom prst="rect">
            <a:avLst/>
          </a:prstGeom>
          <a:noFill/>
          <a:ln/>
        </p:spPr>
        <p:txBody>
          <a:bodyPr wrap="square" lIns="0" tIns="0" rIns="0" bIns="0" rtlCol="0" anchor="ctr"/>
          <a:lstStyle/>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p>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Identification</a:t>
            </a:r>
            <a:endParaRPr lang="en-US" sz="1400" dirty="0"/>
          </a:p>
        </p:txBody>
      </p:sp>
      <p:sp>
        <p:nvSpPr>
          <p:cNvPr id="8" name="Text 6"/>
          <p:cNvSpPr/>
          <p:nvPr/>
        </p:nvSpPr>
        <p:spPr>
          <a:xfrm>
            <a:off x="3081528" y="3200400"/>
            <a:ext cx="292608" cy="685800"/>
          </a:xfrm>
          <a:prstGeom prst="rect">
            <a:avLst/>
          </a:prstGeom>
          <a:noFill/>
          <a:ln/>
        </p:spPr>
        <p:txBody>
          <a:bodyPr wrap="square" lIns="0" tIns="0" rIns="0" bIns="0" rtlCol="0" anchor="ctr"/>
          <a:lstStyle/>
          <a:p>
            <a:pPr algn="ctr" indent="0" marL="0">
              <a:buNone/>
            </a:pPr>
            <a:r>
              <a:rPr lang="en-US" sz="3000" b="1" dirty="0">
                <a:solidFill>
                  <a:srgbClr val="5B7278"/>
                </a:solidFill>
                <a:latin typeface="Arial" pitchFamily="34" charset="0"/>
                <a:ea typeface="Arial" pitchFamily="34" charset="-122"/>
                <a:cs typeface="Arial" pitchFamily="34" charset="-120"/>
              </a:rPr>
              <a:t>›</a:t>
            </a:r>
            <a:endParaRPr lang="en-US" sz="3000" dirty="0"/>
          </a:p>
        </p:txBody>
      </p:sp>
      <p:sp>
        <p:nvSpPr>
          <p:cNvPr id="9" name="Shape 7"/>
          <p:cNvSpPr/>
          <p:nvPr/>
        </p:nvSpPr>
        <p:spPr>
          <a:xfrm>
            <a:off x="3383280" y="2788920"/>
            <a:ext cx="2514600" cy="1508760"/>
          </a:xfrm>
          <a:prstGeom prst="roundRect">
            <a:avLst>
              <a:gd name="adj" fmla="val 4848"/>
            </a:avLst>
          </a:prstGeom>
          <a:solidFill>
            <a:srgbClr val="00A896"/>
          </a:solidFill>
          <a:ln/>
          <a:effectLst>
            <a:outerShdw sx="100000" sy="100000" kx="0" ky="0" algn="bl" rotWithShape="0" blurRad="101600" dist="38100" dir="5400000">
              <a:srgbClr val="1B2A2F">
                <a:alpha val="18000"/>
              </a:srgbClr>
            </a:outerShdw>
          </a:effectLst>
        </p:spPr>
      </p:sp>
      <p:sp>
        <p:nvSpPr>
          <p:cNvPr id="10" name="Text 8"/>
          <p:cNvSpPr/>
          <p:nvPr/>
        </p:nvSpPr>
        <p:spPr>
          <a:xfrm>
            <a:off x="3547872" y="2898648"/>
            <a:ext cx="7315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3547872" y="3410712"/>
            <a:ext cx="2185416" cy="777240"/>
          </a:xfrm>
          <a:prstGeom prst="rect">
            <a:avLst/>
          </a:prstGeom>
          <a:noFill/>
          <a:ln/>
        </p:spPr>
        <p:txBody>
          <a:bodyPr wrap="square" lIns="0" tIns="0" rIns="0" bIns="0" rtlCol="0" anchor="ctr"/>
          <a:lstStyle/>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Engineering</a:t>
            </a:r>
            <a:endParaRPr lang="en-US" sz="1400" dirty="0"/>
          </a:p>
        </p:txBody>
      </p:sp>
      <p:sp>
        <p:nvSpPr>
          <p:cNvPr id="12" name="Text 10"/>
          <p:cNvSpPr/>
          <p:nvPr/>
        </p:nvSpPr>
        <p:spPr>
          <a:xfrm>
            <a:off x="5916168" y="3200400"/>
            <a:ext cx="292608" cy="685800"/>
          </a:xfrm>
          <a:prstGeom prst="rect">
            <a:avLst/>
          </a:prstGeom>
          <a:noFill/>
          <a:ln/>
        </p:spPr>
        <p:txBody>
          <a:bodyPr wrap="square" lIns="0" tIns="0" rIns="0" bIns="0" rtlCol="0" anchor="ctr"/>
          <a:lstStyle/>
          <a:p>
            <a:pPr algn="ctr" indent="0" marL="0">
              <a:buNone/>
            </a:pPr>
            <a:r>
              <a:rPr lang="en-US" sz="3000" b="1" dirty="0">
                <a:solidFill>
                  <a:srgbClr val="5B7278"/>
                </a:solidFill>
                <a:latin typeface="Arial" pitchFamily="34" charset="0"/>
                <a:ea typeface="Arial" pitchFamily="34" charset="-122"/>
                <a:cs typeface="Arial" pitchFamily="34" charset="-120"/>
              </a:rPr>
              <a:t>›</a:t>
            </a:r>
            <a:endParaRPr lang="en-US" sz="3000" dirty="0"/>
          </a:p>
        </p:txBody>
      </p:sp>
      <p:sp>
        <p:nvSpPr>
          <p:cNvPr id="13" name="Shape 11"/>
          <p:cNvSpPr/>
          <p:nvPr/>
        </p:nvSpPr>
        <p:spPr>
          <a:xfrm>
            <a:off x="6217920" y="2788920"/>
            <a:ext cx="2514600" cy="1508760"/>
          </a:xfrm>
          <a:prstGeom prst="roundRect">
            <a:avLst>
              <a:gd name="adj" fmla="val 4848"/>
            </a:avLst>
          </a:prstGeom>
          <a:solidFill>
            <a:srgbClr val="028090"/>
          </a:solidFill>
          <a:ln/>
          <a:effectLst>
            <a:outerShdw sx="100000" sy="100000" kx="0" ky="0" algn="bl" rotWithShape="0" blurRad="101600" dist="38100" dir="5400000">
              <a:srgbClr val="1B2A2F">
                <a:alpha val="18000"/>
              </a:srgbClr>
            </a:outerShdw>
          </a:effectLst>
        </p:spPr>
      </p:sp>
      <p:sp>
        <p:nvSpPr>
          <p:cNvPr id="14" name="Text 12"/>
          <p:cNvSpPr/>
          <p:nvPr/>
        </p:nvSpPr>
        <p:spPr>
          <a:xfrm>
            <a:off x="6382512" y="2898648"/>
            <a:ext cx="7315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6382512" y="3410712"/>
            <a:ext cx="2185416" cy="777240"/>
          </a:xfrm>
          <a:prstGeom prst="rect">
            <a:avLst/>
          </a:prstGeom>
          <a:noFill/>
          <a:ln/>
        </p:spPr>
        <p:txBody>
          <a:bodyPr wrap="square" lIns="0" tIns="0" rIns="0" bIns="0" rtlCol="0" anchor="ctr"/>
          <a:lstStyle/>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Model Building</a:t>
            </a:r>
            <a:endParaRPr lang="en-US" sz="1400" dirty="0"/>
          </a:p>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&amp; Evaluation</a:t>
            </a:r>
            <a:endParaRPr lang="en-US" sz="1400" dirty="0"/>
          </a:p>
        </p:txBody>
      </p:sp>
      <p:sp>
        <p:nvSpPr>
          <p:cNvPr id="16" name="Text 14"/>
          <p:cNvSpPr/>
          <p:nvPr/>
        </p:nvSpPr>
        <p:spPr>
          <a:xfrm>
            <a:off x="8750808" y="3200400"/>
            <a:ext cx="292608" cy="685800"/>
          </a:xfrm>
          <a:prstGeom prst="rect">
            <a:avLst/>
          </a:prstGeom>
          <a:noFill/>
          <a:ln/>
        </p:spPr>
        <p:txBody>
          <a:bodyPr wrap="square" lIns="0" tIns="0" rIns="0" bIns="0" rtlCol="0" anchor="ctr"/>
          <a:lstStyle/>
          <a:p>
            <a:pPr algn="ctr" indent="0" marL="0">
              <a:buNone/>
            </a:pPr>
            <a:r>
              <a:rPr lang="en-US" sz="3000" b="1" dirty="0">
                <a:solidFill>
                  <a:srgbClr val="5B7278"/>
                </a:solidFill>
                <a:latin typeface="Arial" pitchFamily="34" charset="0"/>
                <a:ea typeface="Arial" pitchFamily="34" charset="-122"/>
                <a:cs typeface="Arial" pitchFamily="34" charset="-120"/>
              </a:rPr>
              <a:t>›</a:t>
            </a:r>
            <a:endParaRPr lang="en-US" sz="3000" dirty="0"/>
          </a:p>
        </p:txBody>
      </p:sp>
      <p:sp>
        <p:nvSpPr>
          <p:cNvPr id="17" name="Shape 15"/>
          <p:cNvSpPr/>
          <p:nvPr/>
        </p:nvSpPr>
        <p:spPr>
          <a:xfrm>
            <a:off x="9052560" y="2788920"/>
            <a:ext cx="2514600" cy="1508760"/>
          </a:xfrm>
          <a:prstGeom prst="roundRect">
            <a:avLst>
              <a:gd name="adj" fmla="val 4848"/>
            </a:avLst>
          </a:prstGeom>
          <a:solidFill>
            <a:srgbClr val="00A896"/>
          </a:solidFill>
          <a:ln/>
          <a:effectLst>
            <a:outerShdw sx="100000" sy="100000" kx="0" ky="0" algn="bl" rotWithShape="0" blurRad="101600" dist="38100" dir="5400000">
              <a:srgbClr val="1B2A2F">
                <a:alpha val="18000"/>
              </a:srgbClr>
            </a:outerShdw>
          </a:effectLst>
        </p:spPr>
      </p:sp>
      <p:sp>
        <p:nvSpPr>
          <p:cNvPr id="18" name="Text 16"/>
          <p:cNvSpPr/>
          <p:nvPr/>
        </p:nvSpPr>
        <p:spPr>
          <a:xfrm>
            <a:off x="9217152" y="2898648"/>
            <a:ext cx="7315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9" name="Text 17"/>
          <p:cNvSpPr/>
          <p:nvPr/>
        </p:nvSpPr>
        <p:spPr>
          <a:xfrm>
            <a:off x="9217152" y="3410712"/>
            <a:ext cx="2185416" cy="777240"/>
          </a:xfrm>
          <a:prstGeom prst="rect">
            <a:avLst/>
          </a:prstGeom>
          <a:noFill/>
          <a:ln/>
        </p:spPr>
        <p:txBody>
          <a:bodyPr wrap="square" lIns="0" tIns="0" rIns="0" bIns="0" rtlCol="0" anchor="ctr"/>
          <a:lstStyle/>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Deployment &amp;</a:t>
            </a:r>
            <a:endParaRPr lang="en-US" sz="1400" dirty="0"/>
          </a:p>
          <a:p>
            <a:pPr indent="0" marL="0">
              <a:lnSpc>
                <a:spcPct val="115000"/>
              </a:lnSpc>
              <a:buNone/>
            </a:pPr>
            <a:r>
              <a:rPr lang="en-US" sz="1400" b="1" dirty="0">
                <a:solidFill>
                  <a:srgbClr val="FFFFFF"/>
                </a:solidFill>
                <a:latin typeface="Calibri" pitchFamily="34" charset="0"/>
                <a:ea typeface="Calibri" pitchFamily="34" charset="-122"/>
                <a:cs typeface="Calibri" pitchFamily="34" charset="-120"/>
              </a:rPr>
              <a:t>Administration</a:t>
            </a:r>
            <a:endParaRPr lang="en-US" sz="1400" dirty="0"/>
          </a:p>
        </p:txBody>
      </p:sp>
      <p:sp>
        <p:nvSpPr>
          <p:cNvPr id="20" name="Text 18"/>
          <p:cNvSpPr/>
          <p:nvPr/>
        </p:nvSpPr>
        <p:spPr>
          <a:xfrm>
            <a:off x="548640" y="4709160"/>
            <a:ext cx="10881360" cy="822960"/>
          </a:xfrm>
          <a:prstGeom prst="rect">
            <a:avLst/>
          </a:prstGeom>
          <a:noFill/>
          <a:ln/>
        </p:spPr>
        <p:txBody>
          <a:bodyPr wrap="square" lIns="0" tIns="0" rIns="0" bIns="0" rtlCol="0" anchor="t"/>
          <a:lstStyle/>
          <a:p>
            <a:pPr indent="0" marL="0">
              <a:lnSpc>
                <a:spcPct val="130000"/>
              </a:lnSpc>
              <a:buNone/>
            </a:pPr>
            <a:r>
              <a:rPr lang="en-US" sz="1200" i="1" dirty="0">
                <a:solidFill>
                  <a:srgbClr val="5B7278"/>
                </a:solidFill>
                <a:latin typeface="Calibri" pitchFamily="34" charset="0"/>
                <a:ea typeface="Calibri" pitchFamily="34" charset="-122"/>
                <a:cs typeface="Calibri" pitchFamily="34" charset="-120"/>
              </a:rPr>
              <a:t>Note: the internship focused on guided modules, weekly assessments, and a final assessment test using simulated business scenarios — it did not involve deployment on a live external client project.</a:t>
            </a:r>
            <a:endParaRPr lang="en-US" sz="1200" dirty="0"/>
          </a:p>
        </p:txBody>
      </p:sp>
      <p:sp>
        <p:nvSpPr>
          <p:cNvPr id="21" name="Text 19"/>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4.6</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Technologies &amp; Tools Used</a:t>
            </a:r>
            <a:endParaRPr lang="en-US" sz="3000" dirty="0"/>
          </a:p>
        </p:txBody>
      </p:sp>
      <p:sp>
        <p:nvSpPr>
          <p:cNvPr id="4" name="Shape 2"/>
          <p:cNvSpPr/>
          <p:nvPr/>
        </p:nvSpPr>
        <p:spPr>
          <a:xfrm>
            <a:off x="548640" y="1691640"/>
            <a:ext cx="5257800" cy="1828800"/>
          </a:xfrm>
          <a:prstGeom prst="roundRect">
            <a:avLst>
              <a:gd name="adj" fmla="val 3500"/>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5" name="Shape 3"/>
          <p:cNvSpPr/>
          <p:nvPr/>
        </p:nvSpPr>
        <p:spPr>
          <a:xfrm>
            <a:off x="822960" y="1965960"/>
            <a:ext cx="777240" cy="777240"/>
          </a:xfrm>
          <a:prstGeom prst="ellipse">
            <a:avLst/>
          </a:prstGeom>
          <a:solidFill>
            <a:srgbClr val="028090"/>
          </a:solidFill>
          <a:ln/>
        </p:spPr>
      </p:sp>
      <p:pic>
        <p:nvPicPr>
          <p:cNvPr id="6" name="Image 0" descr="/home/claude/ppt/icon_cogs.png">    </p:cNvPr>
          <p:cNvPicPr>
            <a:picLocks noChangeAspect="1"/>
          </p:cNvPicPr>
          <p:nvPr/>
        </p:nvPicPr>
        <p:blipFill>
          <a:blip r:embed="rId1"/>
          <a:stretch>
            <a:fillRect/>
          </a:stretch>
        </p:blipFill>
        <p:spPr>
          <a:xfrm>
            <a:off x="924001" y="2067001"/>
            <a:ext cx="575158" cy="575158"/>
          </a:xfrm>
          <a:prstGeom prst="rect">
            <a:avLst/>
          </a:prstGeom>
        </p:spPr>
      </p:pic>
      <p:sp>
        <p:nvSpPr>
          <p:cNvPr id="7" name="Text 4"/>
          <p:cNvSpPr/>
          <p:nvPr/>
        </p:nvSpPr>
        <p:spPr>
          <a:xfrm>
            <a:off x="1783080" y="1947672"/>
            <a:ext cx="3794760" cy="502920"/>
          </a:xfrm>
          <a:prstGeom prst="rect">
            <a:avLst/>
          </a:prstGeom>
          <a:noFill/>
          <a:ln/>
        </p:spPr>
        <p:txBody>
          <a:bodyPr wrap="square" lIns="0" tIns="0" rIns="0" bIns="0" rtlCol="0" anchor="t"/>
          <a:lstStyle/>
          <a:p>
            <a:pPr indent="0" marL="0">
              <a:buNone/>
            </a:pPr>
            <a:r>
              <a:rPr lang="en-US" sz="1450" b="1" dirty="0">
                <a:solidFill>
                  <a:srgbClr val="13282C"/>
                </a:solidFill>
                <a:latin typeface="Cambria" pitchFamily="34" charset="0"/>
                <a:ea typeface="Cambria" pitchFamily="34" charset="-122"/>
                <a:cs typeface="Cambria" pitchFamily="34" charset="-120"/>
              </a:rPr>
              <a:t>RapidMiner Studio &amp; AI Hub</a:t>
            </a:r>
            <a:endParaRPr lang="en-US" sz="1450" dirty="0"/>
          </a:p>
        </p:txBody>
      </p:sp>
      <p:sp>
        <p:nvSpPr>
          <p:cNvPr id="8" name="Text 5"/>
          <p:cNvSpPr/>
          <p:nvPr/>
        </p:nvSpPr>
        <p:spPr>
          <a:xfrm>
            <a:off x="1783080" y="2468880"/>
            <a:ext cx="3794760" cy="91440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Data preparation, model building, and platform administration.</a:t>
            </a:r>
            <a:endParaRPr lang="en-US" sz="1150" dirty="0"/>
          </a:p>
        </p:txBody>
      </p:sp>
      <p:sp>
        <p:nvSpPr>
          <p:cNvPr id="9" name="Shape 6"/>
          <p:cNvSpPr/>
          <p:nvPr/>
        </p:nvSpPr>
        <p:spPr>
          <a:xfrm>
            <a:off x="6172200" y="1691640"/>
            <a:ext cx="5257800" cy="1828800"/>
          </a:xfrm>
          <a:prstGeom prst="roundRect">
            <a:avLst>
              <a:gd name="adj" fmla="val 3500"/>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0" name="Shape 7"/>
          <p:cNvSpPr/>
          <p:nvPr/>
        </p:nvSpPr>
        <p:spPr>
          <a:xfrm>
            <a:off x="6446520" y="1965960"/>
            <a:ext cx="777240" cy="777240"/>
          </a:xfrm>
          <a:prstGeom prst="ellipse">
            <a:avLst/>
          </a:prstGeom>
          <a:solidFill>
            <a:srgbClr val="00A896"/>
          </a:solidFill>
          <a:ln/>
        </p:spPr>
      </p:sp>
      <p:pic>
        <p:nvPicPr>
          <p:cNvPr id="11" name="Image 1" descr="/home/claude/ppt/icon_database.png">    </p:cNvPr>
          <p:cNvPicPr>
            <a:picLocks noChangeAspect="1"/>
          </p:cNvPicPr>
          <p:nvPr/>
        </p:nvPicPr>
        <p:blipFill>
          <a:blip r:embed="rId2"/>
          <a:stretch>
            <a:fillRect/>
          </a:stretch>
        </p:blipFill>
        <p:spPr>
          <a:xfrm>
            <a:off x="6547561" y="2067001"/>
            <a:ext cx="575158" cy="575158"/>
          </a:xfrm>
          <a:prstGeom prst="rect">
            <a:avLst/>
          </a:prstGeom>
        </p:spPr>
      </p:pic>
      <p:sp>
        <p:nvSpPr>
          <p:cNvPr id="12" name="Text 8"/>
          <p:cNvSpPr/>
          <p:nvPr/>
        </p:nvSpPr>
        <p:spPr>
          <a:xfrm>
            <a:off x="7406640" y="1947672"/>
            <a:ext cx="3794760" cy="502920"/>
          </a:xfrm>
          <a:prstGeom prst="rect">
            <a:avLst/>
          </a:prstGeom>
          <a:noFill/>
          <a:ln/>
        </p:spPr>
        <p:txBody>
          <a:bodyPr wrap="square" lIns="0" tIns="0" rIns="0" bIns="0" rtlCol="0" anchor="t"/>
          <a:lstStyle/>
          <a:p>
            <a:pPr indent="0" marL="0">
              <a:buNone/>
            </a:pPr>
            <a:r>
              <a:rPr lang="en-US" sz="1450" b="1" dirty="0">
                <a:solidFill>
                  <a:srgbClr val="13282C"/>
                </a:solidFill>
                <a:latin typeface="Cambria" pitchFamily="34" charset="0"/>
                <a:ea typeface="Cambria" pitchFamily="34" charset="-122"/>
                <a:cs typeface="Cambria" pitchFamily="34" charset="-120"/>
              </a:rPr>
              <a:t>Data Engineering Tools</a:t>
            </a:r>
            <a:endParaRPr lang="en-US" sz="1450" dirty="0"/>
          </a:p>
        </p:txBody>
      </p:sp>
      <p:sp>
        <p:nvSpPr>
          <p:cNvPr id="13" name="Text 9"/>
          <p:cNvSpPr/>
          <p:nvPr/>
        </p:nvSpPr>
        <p:spPr>
          <a:xfrm>
            <a:off x="7406640" y="2468880"/>
            <a:ext cx="3794760" cy="91440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Accessing, loading, and transforming structured and unstructured data.</a:t>
            </a:r>
            <a:endParaRPr lang="en-US" sz="1150" dirty="0"/>
          </a:p>
        </p:txBody>
      </p:sp>
      <p:sp>
        <p:nvSpPr>
          <p:cNvPr id="14" name="Shape 10"/>
          <p:cNvSpPr/>
          <p:nvPr/>
        </p:nvSpPr>
        <p:spPr>
          <a:xfrm>
            <a:off x="548640" y="3840480"/>
            <a:ext cx="5257800" cy="1828800"/>
          </a:xfrm>
          <a:prstGeom prst="roundRect">
            <a:avLst>
              <a:gd name="adj" fmla="val 3500"/>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5" name="Shape 11"/>
          <p:cNvSpPr/>
          <p:nvPr/>
        </p:nvSpPr>
        <p:spPr>
          <a:xfrm>
            <a:off x="822960" y="4114800"/>
            <a:ext cx="777240" cy="777240"/>
          </a:xfrm>
          <a:prstGeom prst="ellipse">
            <a:avLst/>
          </a:prstGeom>
          <a:solidFill>
            <a:srgbClr val="028090"/>
          </a:solidFill>
          <a:ln/>
        </p:spPr>
      </p:sp>
      <p:pic>
        <p:nvPicPr>
          <p:cNvPr id="16" name="Image 2" descr="/home/claude/ppt/icon_brain.png">    </p:cNvPr>
          <p:cNvPicPr>
            <a:picLocks noChangeAspect="1"/>
          </p:cNvPicPr>
          <p:nvPr/>
        </p:nvPicPr>
        <p:blipFill>
          <a:blip r:embed="rId3"/>
          <a:stretch>
            <a:fillRect/>
          </a:stretch>
        </p:blipFill>
        <p:spPr>
          <a:xfrm>
            <a:off x="924001" y="4215841"/>
            <a:ext cx="575158" cy="575158"/>
          </a:xfrm>
          <a:prstGeom prst="rect">
            <a:avLst/>
          </a:prstGeom>
        </p:spPr>
      </p:pic>
      <p:sp>
        <p:nvSpPr>
          <p:cNvPr id="17" name="Text 12"/>
          <p:cNvSpPr/>
          <p:nvPr/>
        </p:nvSpPr>
        <p:spPr>
          <a:xfrm>
            <a:off x="1783080" y="4096512"/>
            <a:ext cx="3794760" cy="502920"/>
          </a:xfrm>
          <a:prstGeom prst="rect">
            <a:avLst/>
          </a:prstGeom>
          <a:noFill/>
          <a:ln/>
        </p:spPr>
        <p:txBody>
          <a:bodyPr wrap="square" lIns="0" tIns="0" rIns="0" bIns="0" rtlCol="0" anchor="t"/>
          <a:lstStyle/>
          <a:p>
            <a:pPr indent="0" marL="0">
              <a:buNone/>
            </a:pPr>
            <a:r>
              <a:rPr lang="en-US" sz="1450" b="1" dirty="0">
                <a:solidFill>
                  <a:srgbClr val="13282C"/>
                </a:solidFill>
                <a:latin typeface="Cambria" pitchFamily="34" charset="0"/>
                <a:ea typeface="Cambria" pitchFamily="34" charset="-122"/>
                <a:cs typeface="Cambria" pitchFamily="34" charset="-120"/>
              </a:rPr>
              <a:t>Machine Learning Algorithms</a:t>
            </a:r>
            <a:endParaRPr lang="en-US" sz="1450" dirty="0"/>
          </a:p>
        </p:txBody>
      </p:sp>
      <p:sp>
        <p:nvSpPr>
          <p:cNvPr id="18" name="Text 13"/>
          <p:cNvSpPr/>
          <p:nvPr/>
        </p:nvSpPr>
        <p:spPr>
          <a:xfrm>
            <a:off x="1783080" y="4617720"/>
            <a:ext cx="3794760" cy="91440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Classification, regression, and clustering across professional and master modules.</a:t>
            </a:r>
            <a:endParaRPr lang="en-US" sz="1150" dirty="0"/>
          </a:p>
        </p:txBody>
      </p:sp>
      <p:sp>
        <p:nvSpPr>
          <p:cNvPr id="19" name="Shape 14"/>
          <p:cNvSpPr/>
          <p:nvPr/>
        </p:nvSpPr>
        <p:spPr>
          <a:xfrm>
            <a:off x="6172200" y="3840480"/>
            <a:ext cx="5257800" cy="1828800"/>
          </a:xfrm>
          <a:prstGeom prst="roundRect">
            <a:avLst>
              <a:gd name="adj" fmla="val 3500"/>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20" name="Shape 15"/>
          <p:cNvSpPr/>
          <p:nvPr/>
        </p:nvSpPr>
        <p:spPr>
          <a:xfrm>
            <a:off x="6446520" y="4114800"/>
            <a:ext cx="777240" cy="777240"/>
          </a:xfrm>
          <a:prstGeom prst="ellipse">
            <a:avLst/>
          </a:prstGeom>
          <a:solidFill>
            <a:srgbClr val="00A896"/>
          </a:solidFill>
          <a:ln/>
        </p:spPr>
      </p:sp>
      <p:pic>
        <p:nvPicPr>
          <p:cNvPr id="21" name="Image 3" descr="/home/claude/ppt/icon_grad.png">    </p:cNvPr>
          <p:cNvPicPr>
            <a:picLocks noChangeAspect="1"/>
          </p:cNvPicPr>
          <p:nvPr/>
        </p:nvPicPr>
        <p:blipFill>
          <a:blip r:embed="rId4"/>
          <a:stretch>
            <a:fillRect/>
          </a:stretch>
        </p:blipFill>
        <p:spPr>
          <a:xfrm>
            <a:off x="6547561" y="4215841"/>
            <a:ext cx="575158" cy="575158"/>
          </a:xfrm>
          <a:prstGeom prst="rect">
            <a:avLst/>
          </a:prstGeom>
        </p:spPr>
      </p:pic>
      <p:sp>
        <p:nvSpPr>
          <p:cNvPr id="22" name="Text 16"/>
          <p:cNvSpPr/>
          <p:nvPr/>
        </p:nvSpPr>
        <p:spPr>
          <a:xfrm>
            <a:off x="7406640" y="4096512"/>
            <a:ext cx="3794760" cy="502920"/>
          </a:xfrm>
          <a:prstGeom prst="rect">
            <a:avLst/>
          </a:prstGeom>
          <a:noFill/>
          <a:ln/>
        </p:spPr>
        <p:txBody>
          <a:bodyPr wrap="square" lIns="0" tIns="0" rIns="0" bIns="0" rtlCol="0" anchor="t"/>
          <a:lstStyle/>
          <a:p>
            <a:pPr indent="0" marL="0">
              <a:buNone/>
            </a:pPr>
            <a:r>
              <a:rPr lang="en-US" sz="1450" b="1" dirty="0">
                <a:solidFill>
                  <a:srgbClr val="13282C"/>
                </a:solidFill>
                <a:latin typeface="Cambria" pitchFamily="34" charset="0"/>
                <a:ea typeface="Cambria" pitchFamily="34" charset="-122"/>
                <a:cs typeface="Cambria" pitchFamily="34" charset="-120"/>
              </a:rPr>
              <a:t>AICTE EduSkills Portal</a:t>
            </a:r>
            <a:endParaRPr lang="en-US" sz="1450" dirty="0"/>
          </a:p>
        </p:txBody>
      </p:sp>
      <p:sp>
        <p:nvSpPr>
          <p:cNvPr id="23" name="Text 17"/>
          <p:cNvSpPr/>
          <p:nvPr/>
        </p:nvSpPr>
        <p:spPr>
          <a:xfrm>
            <a:off x="7406640" y="4617720"/>
            <a:ext cx="3794760" cy="914400"/>
          </a:xfrm>
          <a:prstGeom prst="rect">
            <a:avLst/>
          </a:prstGeom>
          <a:noFill/>
          <a:ln/>
        </p:spPr>
        <p:txBody>
          <a:bodyPr wrap="square" lIns="0" tIns="0" rIns="0" bIns="0" rtlCol="0" anchor="t"/>
          <a:lstStyle/>
          <a:p>
            <a:pPr indent="0" marL="0">
              <a:lnSpc>
                <a:spcPct val="130000"/>
              </a:lnSpc>
              <a:buNone/>
            </a:pPr>
            <a:r>
              <a:rPr lang="en-US" sz="1150" dirty="0">
                <a:solidFill>
                  <a:srgbClr val="5B7278"/>
                </a:solidFill>
                <a:latin typeface="Calibri" pitchFamily="34" charset="0"/>
                <a:ea typeface="Calibri" pitchFamily="34" charset="-122"/>
                <a:cs typeface="Calibri" pitchFamily="34" charset="-120"/>
              </a:rPr>
              <a:t>Weekly assessments, documentation submission, and credential evaluation.</a:t>
            </a:r>
            <a:endParaRPr lang="en-US" sz="1150" dirty="0"/>
          </a:p>
        </p:txBody>
      </p:sp>
      <p:sp>
        <p:nvSpPr>
          <p:cNvPr id="24" name="Text 18"/>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4.7</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System Architecture</a:t>
            </a:r>
            <a:endParaRPr lang="en-US" sz="3000" dirty="0"/>
          </a:p>
        </p:txBody>
      </p:sp>
      <p:sp>
        <p:nvSpPr>
          <p:cNvPr id="4" name="Text 2"/>
          <p:cNvSpPr/>
          <p:nvPr/>
        </p:nvSpPr>
        <p:spPr>
          <a:xfrm>
            <a:off x="548640" y="1572768"/>
            <a:ext cx="10881360" cy="457200"/>
          </a:xfrm>
          <a:prstGeom prst="rect">
            <a:avLst/>
          </a:prstGeom>
          <a:noFill/>
          <a:ln/>
        </p:spPr>
        <p:txBody>
          <a:bodyPr wrap="square" lIns="0" tIns="0" rIns="0" bIns="0" rtlCol="0" anchor="ctr"/>
          <a:lstStyle/>
          <a:p>
            <a:pPr indent="0" marL="0">
              <a:buNone/>
            </a:pPr>
            <a:r>
              <a:rPr lang="en-US" sz="1350" dirty="0">
                <a:solidFill>
                  <a:srgbClr val="13282C"/>
                </a:solidFill>
                <a:latin typeface="Calibri" pitchFamily="34" charset="0"/>
                <a:ea typeface="Calibri" pitchFamily="34" charset="-122"/>
                <a:cs typeface="Calibri" pitchFamily="34" charset="-120"/>
              </a:rPr>
              <a:t>The learning environment followed a typical enterprise data science pipeline across four architectural layers:</a:t>
            </a:r>
            <a:endParaRPr lang="en-US" sz="1350" dirty="0"/>
          </a:p>
        </p:txBody>
      </p:sp>
      <p:sp>
        <p:nvSpPr>
          <p:cNvPr id="5" name="Shape 3"/>
          <p:cNvSpPr/>
          <p:nvPr/>
        </p:nvSpPr>
        <p:spPr>
          <a:xfrm>
            <a:off x="548640" y="2148840"/>
            <a:ext cx="10881360" cy="868680"/>
          </a:xfrm>
          <a:prstGeom prst="roundRect">
            <a:avLst>
              <a:gd name="adj" fmla="val 631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6" name="Shape 4"/>
          <p:cNvSpPr/>
          <p:nvPr/>
        </p:nvSpPr>
        <p:spPr>
          <a:xfrm>
            <a:off x="749808" y="2286000"/>
            <a:ext cx="594360" cy="594360"/>
          </a:xfrm>
          <a:prstGeom prst="ellipse">
            <a:avLst/>
          </a:prstGeom>
          <a:solidFill>
            <a:srgbClr val="028090"/>
          </a:solidFill>
          <a:ln/>
        </p:spPr>
      </p:sp>
      <p:pic>
        <p:nvPicPr>
          <p:cNvPr id="7" name="Image 0" descr="/home/claude/ppt/icon_database.png">    </p:cNvPr>
          <p:cNvPicPr>
            <a:picLocks noChangeAspect="1"/>
          </p:cNvPicPr>
          <p:nvPr/>
        </p:nvPicPr>
        <p:blipFill>
          <a:blip r:embed="rId1"/>
          <a:stretch>
            <a:fillRect/>
          </a:stretch>
        </p:blipFill>
        <p:spPr>
          <a:xfrm>
            <a:off x="827075" y="2363267"/>
            <a:ext cx="439826" cy="439826"/>
          </a:xfrm>
          <a:prstGeom prst="rect">
            <a:avLst/>
          </a:prstGeom>
        </p:spPr>
      </p:pic>
      <p:sp>
        <p:nvSpPr>
          <p:cNvPr id="8" name="Text 5"/>
          <p:cNvSpPr/>
          <p:nvPr/>
        </p:nvSpPr>
        <p:spPr>
          <a:xfrm>
            <a:off x="1554480" y="2286000"/>
            <a:ext cx="731520" cy="594360"/>
          </a:xfrm>
          <a:prstGeom prst="rect">
            <a:avLst/>
          </a:prstGeom>
          <a:noFill/>
          <a:ln/>
        </p:spPr>
        <p:txBody>
          <a:bodyPr wrap="square" lIns="0" tIns="0" rIns="0" bIns="0" rtlCol="0" anchor="ctr"/>
          <a:lstStyle/>
          <a:p>
            <a:pPr algn="ctr" indent="0" marL="0">
              <a:buNone/>
            </a:pPr>
            <a:r>
              <a:rPr lang="en-US" sz="2000" b="1" dirty="0">
                <a:solidFill>
                  <a:srgbClr val="00A896"/>
                </a:solidFill>
                <a:latin typeface="Cambria" pitchFamily="34" charset="0"/>
                <a:ea typeface="Cambria" pitchFamily="34" charset="-122"/>
                <a:cs typeface="Cambria" pitchFamily="34" charset="-120"/>
              </a:rPr>
              <a:t>01</a:t>
            </a:r>
            <a:endParaRPr lang="en-US" sz="2000" dirty="0"/>
          </a:p>
        </p:txBody>
      </p:sp>
      <p:sp>
        <p:nvSpPr>
          <p:cNvPr id="9" name="Text 6"/>
          <p:cNvSpPr/>
          <p:nvPr/>
        </p:nvSpPr>
        <p:spPr>
          <a:xfrm>
            <a:off x="2377440" y="2258568"/>
            <a:ext cx="3840480" cy="365760"/>
          </a:xfrm>
          <a:prstGeom prst="rect">
            <a:avLst/>
          </a:prstGeom>
          <a:noFill/>
          <a:ln/>
        </p:spPr>
        <p:txBody>
          <a:bodyPr wrap="square" lIns="0" tIns="0" rIns="0" bIns="0" rtlCol="0" anchor="ctr"/>
          <a:lstStyle/>
          <a:p>
            <a:pPr indent="0" marL="0">
              <a:buNone/>
            </a:pPr>
            <a:r>
              <a:rPr lang="en-US" sz="1450" b="1" dirty="0">
                <a:solidFill>
                  <a:srgbClr val="13282C"/>
                </a:solidFill>
                <a:latin typeface="Cambria" pitchFamily="34" charset="0"/>
                <a:ea typeface="Cambria" pitchFamily="34" charset="-122"/>
                <a:cs typeface="Cambria" pitchFamily="34" charset="-120"/>
              </a:rPr>
              <a:t>Data Access &amp; Ingestion</a:t>
            </a:r>
            <a:endParaRPr lang="en-US" sz="1450" dirty="0"/>
          </a:p>
        </p:txBody>
      </p:sp>
      <p:sp>
        <p:nvSpPr>
          <p:cNvPr id="10" name="Text 7"/>
          <p:cNvSpPr/>
          <p:nvPr/>
        </p:nvSpPr>
        <p:spPr>
          <a:xfrm>
            <a:off x="6309360" y="2194560"/>
            <a:ext cx="4937760" cy="777240"/>
          </a:xfrm>
          <a:prstGeom prst="rect">
            <a:avLst/>
          </a:prstGeom>
          <a:noFill/>
          <a:ln/>
        </p:spPr>
        <p:txBody>
          <a:bodyPr wrap="square" lIns="0" tIns="0" rIns="0" bIns="0" rtlCol="0" anchor="ctr"/>
          <a:lstStyle/>
          <a:p>
            <a:pPr indent="0" marL="0">
              <a:lnSpc>
                <a:spcPct val="120000"/>
              </a:lnSpc>
              <a:buNone/>
            </a:pPr>
            <a:r>
              <a:rPr lang="en-US" sz="1200" dirty="0">
                <a:solidFill>
                  <a:srgbClr val="5B7278"/>
                </a:solidFill>
                <a:latin typeface="Calibri" pitchFamily="34" charset="0"/>
                <a:ea typeface="Calibri" pitchFamily="34" charset="-122"/>
                <a:cs typeface="Calibri" pitchFamily="34" charset="-120"/>
              </a:rPr>
              <a:t>Connecting to and loading raw data sources.</a:t>
            </a:r>
            <a:endParaRPr lang="en-US" sz="1200" dirty="0"/>
          </a:p>
        </p:txBody>
      </p:sp>
      <p:sp>
        <p:nvSpPr>
          <p:cNvPr id="11" name="Shape 8"/>
          <p:cNvSpPr/>
          <p:nvPr/>
        </p:nvSpPr>
        <p:spPr>
          <a:xfrm>
            <a:off x="548640" y="3200400"/>
            <a:ext cx="10881360" cy="868680"/>
          </a:xfrm>
          <a:prstGeom prst="roundRect">
            <a:avLst>
              <a:gd name="adj" fmla="val 631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2" name="Shape 9"/>
          <p:cNvSpPr/>
          <p:nvPr/>
        </p:nvSpPr>
        <p:spPr>
          <a:xfrm>
            <a:off x="749808" y="3337560"/>
            <a:ext cx="594360" cy="594360"/>
          </a:xfrm>
          <a:prstGeom prst="ellipse">
            <a:avLst/>
          </a:prstGeom>
          <a:solidFill>
            <a:srgbClr val="028090"/>
          </a:solidFill>
          <a:ln/>
        </p:spPr>
      </p:sp>
      <p:pic>
        <p:nvPicPr>
          <p:cNvPr id="13" name="Image 1" descr="/home/claude/ppt/icon_tools.png">    </p:cNvPr>
          <p:cNvPicPr>
            <a:picLocks noChangeAspect="1"/>
          </p:cNvPicPr>
          <p:nvPr/>
        </p:nvPicPr>
        <p:blipFill>
          <a:blip r:embed="rId2"/>
          <a:stretch>
            <a:fillRect/>
          </a:stretch>
        </p:blipFill>
        <p:spPr>
          <a:xfrm>
            <a:off x="827075" y="3414827"/>
            <a:ext cx="439826" cy="439826"/>
          </a:xfrm>
          <a:prstGeom prst="rect">
            <a:avLst/>
          </a:prstGeom>
        </p:spPr>
      </p:pic>
      <p:sp>
        <p:nvSpPr>
          <p:cNvPr id="14" name="Text 10"/>
          <p:cNvSpPr/>
          <p:nvPr/>
        </p:nvSpPr>
        <p:spPr>
          <a:xfrm>
            <a:off x="1554480" y="3337560"/>
            <a:ext cx="731520" cy="594360"/>
          </a:xfrm>
          <a:prstGeom prst="rect">
            <a:avLst/>
          </a:prstGeom>
          <a:noFill/>
          <a:ln/>
        </p:spPr>
        <p:txBody>
          <a:bodyPr wrap="square" lIns="0" tIns="0" rIns="0" bIns="0" rtlCol="0" anchor="ctr"/>
          <a:lstStyle/>
          <a:p>
            <a:pPr algn="ctr" indent="0" marL="0">
              <a:buNone/>
            </a:pPr>
            <a:r>
              <a:rPr lang="en-US" sz="2000" b="1" dirty="0">
                <a:solidFill>
                  <a:srgbClr val="00A896"/>
                </a:solidFill>
                <a:latin typeface="Cambria" pitchFamily="34" charset="0"/>
                <a:ea typeface="Cambria" pitchFamily="34" charset="-122"/>
                <a:cs typeface="Cambria" pitchFamily="34" charset="-120"/>
              </a:rPr>
              <a:t>02</a:t>
            </a:r>
            <a:endParaRPr lang="en-US" sz="2000" dirty="0"/>
          </a:p>
        </p:txBody>
      </p:sp>
      <p:sp>
        <p:nvSpPr>
          <p:cNvPr id="15" name="Text 11"/>
          <p:cNvSpPr/>
          <p:nvPr/>
        </p:nvSpPr>
        <p:spPr>
          <a:xfrm>
            <a:off x="2377440" y="3310128"/>
            <a:ext cx="3840480" cy="365760"/>
          </a:xfrm>
          <a:prstGeom prst="rect">
            <a:avLst/>
          </a:prstGeom>
          <a:noFill/>
          <a:ln/>
        </p:spPr>
        <p:txBody>
          <a:bodyPr wrap="square" lIns="0" tIns="0" rIns="0" bIns="0" rtlCol="0" anchor="ctr"/>
          <a:lstStyle/>
          <a:p>
            <a:pPr indent="0" marL="0">
              <a:buNone/>
            </a:pPr>
            <a:r>
              <a:rPr lang="en-US" sz="1450" b="1" dirty="0">
                <a:solidFill>
                  <a:srgbClr val="13282C"/>
                </a:solidFill>
                <a:latin typeface="Cambria" pitchFamily="34" charset="0"/>
                <a:ea typeface="Cambria" pitchFamily="34" charset="-122"/>
                <a:cs typeface="Cambria" pitchFamily="34" charset="-120"/>
              </a:rPr>
              <a:t>Data Preparation</a:t>
            </a:r>
            <a:endParaRPr lang="en-US" sz="1450" dirty="0"/>
          </a:p>
        </p:txBody>
      </p:sp>
      <p:sp>
        <p:nvSpPr>
          <p:cNvPr id="16" name="Text 12"/>
          <p:cNvSpPr/>
          <p:nvPr/>
        </p:nvSpPr>
        <p:spPr>
          <a:xfrm>
            <a:off x="6309360" y="3246120"/>
            <a:ext cx="4937760" cy="777240"/>
          </a:xfrm>
          <a:prstGeom prst="rect">
            <a:avLst/>
          </a:prstGeom>
          <a:noFill/>
          <a:ln/>
        </p:spPr>
        <p:txBody>
          <a:bodyPr wrap="square" lIns="0" tIns="0" rIns="0" bIns="0" rtlCol="0" anchor="ctr"/>
          <a:lstStyle/>
          <a:p>
            <a:pPr indent="0" marL="0">
              <a:lnSpc>
                <a:spcPct val="120000"/>
              </a:lnSpc>
              <a:buNone/>
            </a:pPr>
            <a:r>
              <a:rPr lang="en-US" sz="1200" dirty="0">
                <a:solidFill>
                  <a:srgbClr val="5B7278"/>
                </a:solidFill>
                <a:latin typeface="Calibri" pitchFamily="34" charset="0"/>
                <a:ea typeface="Calibri" pitchFamily="34" charset="-122"/>
                <a:cs typeface="Calibri" pitchFamily="34" charset="-120"/>
              </a:rPr>
              <a:t>Cleaning, transforming, and enriching data.</a:t>
            </a:r>
            <a:endParaRPr lang="en-US" sz="1200" dirty="0"/>
          </a:p>
        </p:txBody>
      </p:sp>
      <p:sp>
        <p:nvSpPr>
          <p:cNvPr id="17" name="Shape 13"/>
          <p:cNvSpPr/>
          <p:nvPr/>
        </p:nvSpPr>
        <p:spPr>
          <a:xfrm>
            <a:off x="548640" y="4251960"/>
            <a:ext cx="10881360" cy="868680"/>
          </a:xfrm>
          <a:prstGeom prst="roundRect">
            <a:avLst>
              <a:gd name="adj" fmla="val 631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18" name="Shape 14"/>
          <p:cNvSpPr/>
          <p:nvPr/>
        </p:nvSpPr>
        <p:spPr>
          <a:xfrm>
            <a:off x="749808" y="4389120"/>
            <a:ext cx="594360" cy="594360"/>
          </a:xfrm>
          <a:prstGeom prst="ellipse">
            <a:avLst/>
          </a:prstGeom>
          <a:solidFill>
            <a:srgbClr val="028090"/>
          </a:solidFill>
          <a:ln/>
        </p:spPr>
      </p:sp>
      <p:pic>
        <p:nvPicPr>
          <p:cNvPr id="19" name="Image 2" descr="/home/claude/ppt/icon_brain.png">    </p:cNvPr>
          <p:cNvPicPr>
            <a:picLocks noChangeAspect="1"/>
          </p:cNvPicPr>
          <p:nvPr/>
        </p:nvPicPr>
        <p:blipFill>
          <a:blip r:embed="rId3"/>
          <a:stretch>
            <a:fillRect/>
          </a:stretch>
        </p:blipFill>
        <p:spPr>
          <a:xfrm>
            <a:off x="827075" y="4466387"/>
            <a:ext cx="439826" cy="439826"/>
          </a:xfrm>
          <a:prstGeom prst="rect">
            <a:avLst/>
          </a:prstGeom>
        </p:spPr>
      </p:pic>
      <p:sp>
        <p:nvSpPr>
          <p:cNvPr id="20" name="Text 15"/>
          <p:cNvSpPr/>
          <p:nvPr/>
        </p:nvSpPr>
        <p:spPr>
          <a:xfrm>
            <a:off x="1554480" y="4389120"/>
            <a:ext cx="731520" cy="594360"/>
          </a:xfrm>
          <a:prstGeom prst="rect">
            <a:avLst/>
          </a:prstGeom>
          <a:noFill/>
          <a:ln/>
        </p:spPr>
        <p:txBody>
          <a:bodyPr wrap="square" lIns="0" tIns="0" rIns="0" bIns="0" rtlCol="0" anchor="ctr"/>
          <a:lstStyle/>
          <a:p>
            <a:pPr algn="ctr" indent="0" marL="0">
              <a:buNone/>
            </a:pPr>
            <a:r>
              <a:rPr lang="en-US" sz="2000" b="1" dirty="0">
                <a:solidFill>
                  <a:srgbClr val="00A896"/>
                </a:solidFill>
                <a:latin typeface="Cambria" pitchFamily="34" charset="0"/>
                <a:ea typeface="Cambria" pitchFamily="34" charset="-122"/>
                <a:cs typeface="Cambria" pitchFamily="34" charset="-120"/>
              </a:rPr>
              <a:t>03</a:t>
            </a:r>
            <a:endParaRPr lang="en-US" sz="2000" dirty="0"/>
          </a:p>
        </p:txBody>
      </p:sp>
      <p:sp>
        <p:nvSpPr>
          <p:cNvPr id="21" name="Text 16"/>
          <p:cNvSpPr/>
          <p:nvPr/>
        </p:nvSpPr>
        <p:spPr>
          <a:xfrm>
            <a:off x="2377440" y="4361688"/>
            <a:ext cx="3840480" cy="365760"/>
          </a:xfrm>
          <a:prstGeom prst="rect">
            <a:avLst/>
          </a:prstGeom>
          <a:noFill/>
          <a:ln/>
        </p:spPr>
        <p:txBody>
          <a:bodyPr wrap="square" lIns="0" tIns="0" rIns="0" bIns="0" rtlCol="0" anchor="ctr"/>
          <a:lstStyle/>
          <a:p>
            <a:pPr indent="0" marL="0">
              <a:buNone/>
            </a:pPr>
            <a:r>
              <a:rPr lang="en-US" sz="1450" b="1" dirty="0">
                <a:solidFill>
                  <a:srgbClr val="13282C"/>
                </a:solidFill>
                <a:latin typeface="Cambria" pitchFamily="34" charset="0"/>
                <a:ea typeface="Cambria" pitchFamily="34" charset="-122"/>
                <a:cs typeface="Cambria" pitchFamily="34" charset="-120"/>
              </a:rPr>
              <a:t>Modeling</a:t>
            </a:r>
            <a:endParaRPr lang="en-US" sz="1450" dirty="0"/>
          </a:p>
        </p:txBody>
      </p:sp>
      <p:sp>
        <p:nvSpPr>
          <p:cNvPr id="22" name="Text 17"/>
          <p:cNvSpPr/>
          <p:nvPr/>
        </p:nvSpPr>
        <p:spPr>
          <a:xfrm>
            <a:off x="6309360" y="4297680"/>
            <a:ext cx="4937760" cy="777240"/>
          </a:xfrm>
          <a:prstGeom prst="rect">
            <a:avLst/>
          </a:prstGeom>
          <a:noFill/>
          <a:ln/>
        </p:spPr>
        <p:txBody>
          <a:bodyPr wrap="square" lIns="0" tIns="0" rIns="0" bIns="0" rtlCol="0" anchor="ctr"/>
          <a:lstStyle/>
          <a:p>
            <a:pPr indent="0" marL="0">
              <a:lnSpc>
                <a:spcPct val="120000"/>
              </a:lnSpc>
              <a:buNone/>
            </a:pPr>
            <a:r>
              <a:rPr lang="en-US" sz="1200" dirty="0">
                <a:solidFill>
                  <a:srgbClr val="5B7278"/>
                </a:solidFill>
                <a:latin typeface="Calibri" pitchFamily="34" charset="0"/>
                <a:ea typeface="Calibri" pitchFamily="34" charset="-122"/>
                <a:cs typeface="Calibri" pitchFamily="34" charset="-120"/>
              </a:rPr>
              <a:t>Training, validating, and tuning ML algorithms.</a:t>
            </a:r>
            <a:endParaRPr lang="en-US" sz="1200" dirty="0"/>
          </a:p>
        </p:txBody>
      </p:sp>
      <p:sp>
        <p:nvSpPr>
          <p:cNvPr id="23" name="Shape 18"/>
          <p:cNvSpPr/>
          <p:nvPr/>
        </p:nvSpPr>
        <p:spPr>
          <a:xfrm>
            <a:off x="548640" y="5303520"/>
            <a:ext cx="10881360" cy="868680"/>
          </a:xfrm>
          <a:prstGeom prst="roundRect">
            <a:avLst>
              <a:gd name="adj" fmla="val 6316"/>
            </a:avLst>
          </a:prstGeom>
          <a:solidFill>
            <a:srgbClr val="FFFFFF"/>
          </a:solidFill>
          <a:ln w="12700">
            <a:solidFill>
              <a:srgbClr val="DCE9E7"/>
            </a:solidFill>
            <a:prstDash val="solid"/>
          </a:ln>
          <a:effectLst>
            <a:outerShdw sx="100000" sy="100000" kx="0" ky="0" algn="bl" rotWithShape="0" blurRad="101600" dist="38100" dir="5400000">
              <a:srgbClr val="1B2A2F">
                <a:alpha val="18000"/>
              </a:srgbClr>
            </a:outerShdw>
          </a:effectLst>
        </p:spPr>
      </p:sp>
      <p:sp>
        <p:nvSpPr>
          <p:cNvPr id="24" name="Shape 19"/>
          <p:cNvSpPr/>
          <p:nvPr/>
        </p:nvSpPr>
        <p:spPr>
          <a:xfrm>
            <a:off x="749808" y="5440680"/>
            <a:ext cx="594360" cy="594360"/>
          </a:xfrm>
          <a:prstGeom prst="ellipse">
            <a:avLst/>
          </a:prstGeom>
          <a:solidFill>
            <a:srgbClr val="028090"/>
          </a:solidFill>
          <a:ln/>
        </p:spPr>
      </p:sp>
      <p:pic>
        <p:nvPicPr>
          <p:cNvPr id="25" name="Image 3" descr="/home/claude/ppt/icon_cloud.png">    </p:cNvPr>
          <p:cNvPicPr>
            <a:picLocks noChangeAspect="1"/>
          </p:cNvPicPr>
          <p:nvPr/>
        </p:nvPicPr>
        <p:blipFill>
          <a:blip r:embed="rId4"/>
          <a:stretch>
            <a:fillRect/>
          </a:stretch>
        </p:blipFill>
        <p:spPr>
          <a:xfrm>
            <a:off x="827075" y="5517947"/>
            <a:ext cx="439826" cy="439826"/>
          </a:xfrm>
          <a:prstGeom prst="rect">
            <a:avLst/>
          </a:prstGeom>
        </p:spPr>
      </p:pic>
      <p:sp>
        <p:nvSpPr>
          <p:cNvPr id="26" name="Text 20"/>
          <p:cNvSpPr/>
          <p:nvPr/>
        </p:nvSpPr>
        <p:spPr>
          <a:xfrm>
            <a:off x="1554480" y="5440680"/>
            <a:ext cx="731520" cy="594360"/>
          </a:xfrm>
          <a:prstGeom prst="rect">
            <a:avLst/>
          </a:prstGeom>
          <a:noFill/>
          <a:ln/>
        </p:spPr>
        <p:txBody>
          <a:bodyPr wrap="square" lIns="0" tIns="0" rIns="0" bIns="0" rtlCol="0" anchor="ctr"/>
          <a:lstStyle/>
          <a:p>
            <a:pPr algn="ctr" indent="0" marL="0">
              <a:buNone/>
            </a:pPr>
            <a:r>
              <a:rPr lang="en-US" sz="2000" b="1" dirty="0">
                <a:solidFill>
                  <a:srgbClr val="00A896"/>
                </a:solidFill>
                <a:latin typeface="Cambria" pitchFamily="34" charset="0"/>
                <a:ea typeface="Cambria" pitchFamily="34" charset="-122"/>
                <a:cs typeface="Cambria" pitchFamily="34" charset="-120"/>
              </a:rPr>
              <a:t>04</a:t>
            </a:r>
            <a:endParaRPr lang="en-US" sz="2000" dirty="0"/>
          </a:p>
        </p:txBody>
      </p:sp>
      <p:sp>
        <p:nvSpPr>
          <p:cNvPr id="27" name="Text 21"/>
          <p:cNvSpPr/>
          <p:nvPr/>
        </p:nvSpPr>
        <p:spPr>
          <a:xfrm>
            <a:off x="2377440" y="5413248"/>
            <a:ext cx="3840480" cy="365760"/>
          </a:xfrm>
          <a:prstGeom prst="rect">
            <a:avLst/>
          </a:prstGeom>
          <a:noFill/>
          <a:ln/>
        </p:spPr>
        <p:txBody>
          <a:bodyPr wrap="square" lIns="0" tIns="0" rIns="0" bIns="0" rtlCol="0" anchor="ctr"/>
          <a:lstStyle/>
          <a:p>
            <a:pPr indent="0" marL="0">
              <a:buNone/>
            </a:pPr>
            <a:r>
              <a:rPr lang="en-US" sz="1450" b="1" dirty="0">
                <a:solidFill>
                  <a:srgbClr val="13282C"/>
                </a:solidFill>
                <a:latin typeface="Cambria" pitchFamily="34" charset="0"/>
                <a:ea typeface="Cambria" pitchFamily="34" charset="-122"/>
                <a:cs typeface="Cambria" pitchFamily="34" charset="-120"/>
              </a:rPr>
              <a:t>Deployment &amp; Administration</a:t>
            </a:r>
            <a:endParaRPr lang="en-US" sz="1450" dirty="0"/>
          </a:p>
        </p:txBody>
      </p:sp>
      <p:sp>
        <p:nvSpPr>
          <p:cNvPr id="28" name="Text 22"/>
          <p:cNvSpPr/>
          <p:nvPr/>
        </p:nvSpPr>
        <p:spPr>
          <a:xfrm>
            <a:off x="6309360" y="5349240"/>
            <a:ext cx="4937760" cy="777240"/>
          </a:xfrm>
          <a:prstGeom prst="rect">
            <a:avLst/>
          </a:prstGeom>
          <a:noFill/>
          <a:ln/>
        </p:spPr>
        <p:txBody>
          <a:bodyPr wrap="square" lIns="0" tIns="0" rIns="0" bIns="0" rtlCol="0" anchor="ctr"/>
          <a:lstStyle/>
          <a:p>
            <a:pPr indent="0" marL="0">
              <a:lnSpc>
                <a:spcPct val="120000"/>
              </a:lnSpc>
              <a:buNone/>
            </a:pPr>
            <a:r>
              <a:rPr lang="en-US" sz="1200" dirty="0">
                <a:solidFill>
                  <a:srgbClr val="5B7278"/>
                </a:solidFill>
                <a:latin typeface="Calibri" pitchFamily="34" charset="0"/>
                <a:ea typeface="Calibri" pitchFamily="34" charset="-122"/>
                <a:cs typeface="Calibri" pitchFamily="34" charset="-120"/>
              </a:rPr>
              <a:t>Publishing, monitoring, and managing models via RapidMiner AI Hub.</a:t>
            </a:r>
            <a:endParaRPr lang="en-US" sz="1200" dirty="0"/>
          </a:p>
        </p:txBody>
      </p:sp>
      <p:sp>
        <p:nvSpPr>
          <p:cNvPr id="29" name="Text 23"/>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30" name="Text 2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4.8</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Methodology — Week-wise Structure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4709160"/>
        </p:xfrm>
        <a:graphic>
          <a:graphicData uri="http://schemas.openxmlformats.org/drawingml/2006/table">
            <a:tbl>
              <a:tblPr/>
              <a:tblGrid>
                <a:gridCol w="1005840"/>
                <a:gridCol w="4663440"/>
                <a:gridCol w="5440680"/>
              </a:tblGrid>
              <a:tr h="54864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Week</a:t>
                      </a:r>
                      <a:endParaRPr lang="en-US" sz="12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02809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02809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Focus</a:t>
                      </a:r>
                      <a:endParaRPr lang="en-US" sz="12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028090"/>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Applications &amp; Use Cases – Professional</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Identifying business problems suitable for AI/ML</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Data Engineering – Professional</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Accessing, loading, transforming, and calculating data</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Machine Learning – Professional</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Building foundational machine learning skills</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Data Preparation – Master</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Advanced data handling and automation</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Machine Learning – Master</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Advanced machine learning techniques</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Applications &amp; Use Cases – Master</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Deploying and monitoring ML models</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Platform Administration – Master</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Configuring and managing RapidMiner AI Hub</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FFFFFF"/>
                    </a:solidFill>
                  </a:tcPr>
                </a:tc>
              </a:tr>
              <a:tr h="548640">
                <a:tc>
                  <a:txBody>
                    <a:bodyPr/>
                    <a:lstStyle/>
                    <a:p>
                      <a:pPr algn="ctr" indent="0" marL="0">
                        <a:buNone/>
                      </a:pPr>
                      <a:r>
                        <a:rPr lang="en-US" sz="1200" b="1" dirty="0">
                          <a:solidFill>
                            <a:srgbClr val="13282C"/>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13282C"/>
                          </a:solidFill>
                          <a:latin typeface="Calibri" pitchFamily="34" charset="0"/>
                          <a:ea typeface="Calibri" pitchFamily="34" charset="-122"/>
                          <a:cs typeface="Calibri" pitchFamily="34" charset="-120"/>
                        </a:rPr>
                        <a:t>Platform Administration – Master</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c>
                  <a:txBody>
                    <a:bodyPr/>
                    <a:lstStyle/>
                    <a:p>
                      <a:pPr indent="0" marL="0">
                        <a:buNone/>
                      </a:pPr>
                      <a:r>
                        <a:rPr lang="en-US" sz="1150" dirty="0">
                          <a:solidFill>
                            <a:srgbClr val="5B7278"/>
                          </a:solidFill>
                          <a:latin typeface="Calibri" pitchFamily="34" charset="0"/>
                          <a:ea typeface="Calibri" pitchFamily="34" charset="-122"/>
                          <a:cs typeface="Calibri" pitchFamily="34" charset="-120"/>
                        </a:rPr>
                        <a:t>Enterprise-level platform operations</a:t>
                      </a:r>
                      <a:endParaRPr lang="en-US" sz="1150" dirty="0">
                        <a:latin typeface="Calibri" charset="0"/>
                        <a:ea typeface="Calibri" charset="0"/>
                        <a:cs typeface="Calibri" charset="0"/>
                      </a:endParaRPr>
                    </a:p>
                  </a:txBody>
                  <a:tcPr marL="91440" marR="91440" marT="45720" marB="45720" anchor="ctr">
                    <a:lnL w="9525" cap="flat" cmpd="sng" algn="ctr">
                      <a:solidFill>
                        <a:srgbClr val="DCE9E7"/>
                      </a:solidFill>
                      <a:prstDash val="solid"/>
                      <a:round/>
                      <a:headEnd type="none" w="med" len="med"/>
                      <a:tailEnd type="none" w="med" len="med"/>
                    </a:lnL>
                    <a:lnR w="9525" cap="flat" cmpd="sng" algn="ctr">
                      <a:solidFill>
                        <a:srgbClr val="DCE9E7"/>
                      </a:solidFill>
                      <a:prstDash val="solid"/>
                      <a:round/>
                      <a:headEnd type="none" w="med" len="med"/>
                      <a:tailEnd type="none" w="med" len="med"/>
                    </a:lnR>
                    <a:lnT w="9525" cap="flat" cmpd="sng" algn="ctr">
                      <a:solidFill>
                        <a:srgbClr val="DCE9E7"/>
                      </a:solidFill>
                      <a:prstDash val="solid"/>
                      <a:round/>
                      <a:headEnd type="none" w="med" len="med"/>
                      <a:tailEnd type="none" w="med" len="med"/>
                    </a:lnT>
                    <a:lnB w="9525" cap="flat" cmpd="sng" algn="ctr">
                      <a:solidFill>
                        <a:srgbClr val="DCE9E7"/>
                      </a:solidFill>
                      <a:prstDash val="solid"/>
                      <a:round/>
                      <a:headEnd type="none" w="med" len="med"/>
                      <a:tailEnd type="none" w="med" len="med"/>
                    </a:lnB>
                    <a:solidFill>
                      <a:srgbClr val="EAF5F3"/>
                    </a:solidFill>
                  </a:tcPr>
                </a:tc>
              </a:tr>
            </a:tbl>
          </a:graphicData>
        </a:graphic>
      </p:graphicFrame>
      <p:sp>
        <p:nvSpPr>
          <p:cNvPr id="5" name="Text 2"/>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6" name="Text 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4.9</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Expected Outcomes</a:t>
            </a:r>
            <a:endParaRPr lang="en-US" sz="3000" dirty="0"/>
          </a:p>
        </p:txBody>
      </p:sp>
      <p:sp>
        <p:nvSpPr>
          <p:cNvPr id="4" name="Shape 2"/>
          <p:cNvSpPr/>
          <p:nvPr/>
        </p:nvSpPr>
        <p:spPr>
          <a:xfrm>
            <a:off x="548640" y="1645920"/>
            <a:ext cx="502920" cy="502920"/>
          </a:xfrm>
          <a:prstGeom prst="ellipse">
            <a:avLst/>
          </a:prstGeom>
          <a:solidFill>
            <a:srgbClr val="02C39A"/>
          </a:solidFill>
          <a:ln/>
        </p:spPr>
      </p:sp>
      <p:pic>
        <p:nvPicPr>
          <p:cNvPr id="5" name="Image 0" descr="/home/claude/ppt/icon_check.png">    </p:cNvPr>
          <p:cNvPicPr>
            <a:picLocks noChangeAspect="1"/>
          </p:cNvPicPr>
          <p:nvPr/>
        </p:nvPicPr>
        <p:blipFill>
          <a:blip r:embed="rId1"/>
          <a:stretch>
            <a:fillRect/>
          </a:stretch>
        </p:blipFill>
        <p:spPr>
          <a:xfrm>
            <a:off x="614020" y="1711300"/>
            <a:ext cx="372161" cy="372161"/>
          </a:xfrm>
          <a:prstGeom prst="rect">
            <a:avLst/>
          </a:prstGeom>
        </p:spPr>
      </p:pic>
      <p:sp>
        <p:nvSpPr>
          <p:cNvPr id="6" name="Text 3"/>
          <p:cNvSpPr/>
          <p:nvPr/>
        </p:nvSpPr>
        <p:spPr>
          <a:xfrm>
            <a:off x="1234440" y="1600200"/>
            <a:ext cx="10241280" cy="594360"/>
          </a:xfrm>
          <a:prstGeom prst="rect">
            <a:avLst/>
          </a:prstGeom>
          <a:noFill/>
          <a:ln/>
        </p:spPr>
        <p:txBody>
          <a:bodyPr wrap="square" lIns="0" tIns="0" rIns="0" bIns="0" rtlCol="0" anchor="ctr"/>
          <a:lstStyle/>
          <a:p>
            <a:pPr indent="0" marL="0">
              <a:lnSpc>
                <a:spcPct val="120000"/>
              </a:lnSpc>
              <a:buNone/>
            </a:pPr>
            <a:r>
              <a:rPr lang="en-US" sz="1350" dirty="0">
                <a:solidFill>
                  <a:srgbClr val="13282C"/>
                </a:solidFill>
                <a:latin typeface="Calibri" pitchFamily="34" charset="0"/>
                <a:ea typeface="Calibri" pitchFamily="34" charset="-122"/>
                <a:cs typeface="Calibri" pitchFamily="34" charset="-120"/>
              </a:rPr>
              <a:t>Developed a strong conceptual understanding of the end-to-end data science and machine learning workflow.</a:t>
            </a:r>
            <a:endParaRPr lang="en-US" sz="1350" dirty="0"/>
          </a:p>
        </p:txBody>
      </p:sp>
      <p:sp>
        <p:nvSpPr>
          <p:cNvPr id="7" name="Shape 4"/>
          <p:cNvSpPr/>
          <p:nvPr/>
        </p:nvSpPr>
        <p:spPr>
          <a:xfrm>
            <a:off x="548640" y="2487168"/>
            <a:ext cx="502920" cy="502920"/>
          </a:xfrm>
          <a:prstGeom prst="ellipse">
            <a:avLst/>
          </a:prstGeom>
          <a:solidFill>
            <a:srgbClr val="02C39A"/>
          </a:solidFill>
          <a:ln/>
        </p:spPr>
      </p:sp>
      <p:pic>
        <p:nvPicPr>
          <p:cNvPr id="8" name="Image 1" descr="/home/claude/ppt/icon_check.png">    </p:cNvPr>
          <p:cNvPicPr>
            <a:picLocks noChangeAspect="1"/>
          </p:cNvPicPr>
          <p:nvPr/>
        </p:nvPicPr>
        <p:blipFill>
          <a:blip r:embed="rId2"/>
          <a:stretch>
            <a:fillRect/>
          </a:stretch>
        </p:blipFill>
        <p:spPr>
          <a:xfrm>
            <a:off x="614020" y="2552548"/>
            <a:ext cx="372161" cy="372161"/>
          </a:xfrm>
          <a:prstGeom prst="rect">
            <a:avLst/>
          </a:prstGeom>
        </p:spPr>
      </p:pic>
      <p:sp>
        <p:nvSpPr>
          <p:cNvPr id="9" name="Text 5"/>
          <p:cNvSpPr/>
          <p:nvPr/>
        </p:nvSpPr>
        <p:spPr>
          <a:xfrm>
            <a:off x="1234440" y="2441448"/>
            <a:ext cx="10241280" cy="594360"/>
          </a:xfrm>
          <a:prstGeom prst="rect">
            <a:avLst/>
          </a:prstGeom>
          <a:noFill/>
          <a:ln/>
        </p:spPr>
        <p:txBody>
          <a:bodyPr wrap="square" lIns="0" tIns="0" rIns="0" bIns="0" rtlCol="0" anchor="ctr"/>
          <a:lstStyle/>
          <a:p>
            <a:pPr indent="0" marL="0">
              <a:lnSpc>
                <a:spcPct val="120000"/>
              </a:lnSpc>
              <a:buNone/>
            </a:pPr>
            <a:r>
              <a:rPr lang="en-US" sz="1350" dirty="0">
                <a:solidFill>
                  <a:srgbClr val="13282C"/>
                </a:solidFill>
                <a:latin typeface="Calibri" pitchFamily="34" charset="0"/>
                <a:ea typeface="Calibri" pitchFamily="34" charset="-122"/>
                <a:cs typeface="Calibri" pitchFamily="34" charset="-120"/>
              </a:rPr>
              <a:t>Gained practical, hands-on skills in data engineering, model building, and model deployment using RapidMiner.</a:t>
            </a:r>
            <a:endParaRPr lang="en-US" sz="1350" dirty="0"/>
          </a:p>
        </p:txBody>
      </p:sp>
      <p:sp>
        <p:nvSpPr>
          <p:cNvPr id="10" name="Shape 6"/>
          <p:cNvSpPr/>
          <p:nvPr/>
        </p:nvSpPr>
        <p:spPr>
          <a:xfrm>
            <a:off x="548640" y="3328416"/>
            <a:ext cx="502920" cy="502920"/>
          </a:xfrm>
          <a:prstGeom prst="ellipse">
            <a:avLst/>
          </a:prstGeom>
          <a:solidFill>
            <a:srgbClr val="02C39A"/>
          </a:solidFill>
          <a:ln/>
        </p:spPr>
      </p:sp>
      <p:pic>
        <p:nvPicPr>
          <p:cNvPr id="11" name="Image 2" descr="/home/claude/ppt/icon_check.png">    </p:cNvPr>
          <p:cNvPicPr>
            <a:picLocks noChangeAspect="1"/>
          </p:cNvPicPr>
          <p:nvPr/>
        </p:nvPicPr>
        <p:blipFill>
          <a:blip r:embed="rId3"/>
          <a:stretch>
            <a:fillRect/>
          </a:stretch>
        </p:blipFill>
        <p:spPr>
          <a:xfrm>
            <a:off x="614020" y="3393796"/>
            <a:ext cx="372161" cy="372161"/>
          </a:xfrm>
          <a:prstGeom prst="rect">
            <a:avLst/>
          </a:prstGeom>
        </p:spPr>
      </p:pic>
      <p:sp>
        <p:nvSpPr>
          <p:cNvPr id="12" name="Text 7"/>
          <p:cNvSpPr/>
          <p:nvPr/>
        </p:nvSpPr>
        <p:spPr>
          <a:xfrm>
            <a:off x="1234440" y="3282696"/>
            <a:ext cx="10241280" cy="594360"/>
          </a:xfrm>
          <a:prstGeom prst="rect">
            <a:avLst/>
          </a:prstGeom>
          <a:noFill/>
          <a:ln/>
        </p:spPr>
        <p:txBody>
          <a:bodyPr wrap="square" lIns="0" tIns="0" rIns="0" bIns="0" rtlCol="0" anchor="ctr"/>
          <a:lstStyle/>
          <a:p>
            <a:pPr indent="0" marL="0">
              <a:lnSpc>
                <a:spcPct val="120000"/>
              </a:lnSpc>
              <a:buNone/>
            </a:pPr>
            <a:r>
              <a:rPr lang="en-US" sz="1350" dirty="0">
                <a:solidFill>
                  <a:srgbClr val="13282C"/>
                </a:solidFill>
                <a:latin typeface="Calibri" pitchFamily="34" charset="0"/>
                <a:ea typeface="Calibri" pitchFamily="34" charset="-122"/>
                <a:cs typeface="Calibri" pitchFamily="34" charset="-120"/>
              </a:rPr>
              <a:t>Acquired platform administration skills necessary for managing enterprise AI/ML solutions.</a:t>
            </a:r>
            <a:endParaRPr lang="en-US" sz="1350" dirty="0"/>
          </a:p>
        </p:txBody>
      </p:sp>
      <p:sp>
        <p:nvSpPr>
          <p:cNvPr id="13" name="Shape 8"/>
          <p:cNvSpPr/>
          <p:nvPr/>
        </p:nvSpPr>
        <p:spPr>
          <a:xfrm>
            <a:off x="548640" y="4169664"/>
            <a:ext cx="502920" cy="502920"/>
          </a:xfrm>
          <a:prstGeom prst="ellipse">
            <a:avLst/>
          </a:prstGeom>
          <a:solidFill>
            <a:srgbClr val="02C39A"/>
          </a:solidFill>
          <a:ln/>
        </p:spPr>
      </p:sp>
      <p:pic>
        <p:nvPicPr>
          <p:cNvPr id="14" name="Image 3" descr="/home/claude/ppt/icon_check.png">    </p:cNvPr>
          <p:cNvPicPr>
            <a:picLocks noChangeAspect="1"/>
          </p:cNvPicPr>
          <p:nvPr/>
        </p:nvPicPr>
        <p:blipFill>
          <a:blip r:embed="rId4"/>
          <a:stretch>
            <a:fillRect/>
          </a:stretch>
        </p:blipFill>
        <p:spPr>
          <a:xfrm>
            <a:off x="614020" y="4235044"/>
            <a:ext cx="372161" cy="372161"/>
          </a:xfrm>
          <a:prstGeom prst="rect">
            <a:avLst/>
          </a:prstGeom>
        </p:spPr>
      </p:pic>
      <p:sp>
        <p:nvSpPr>
          <p:cNvPr id="15" name="Text 9"/>
          <p:cNvSpPr/>
          <p:nvPr/>
        </p:nvSpPr>
        <p:spPr>
          <a:xfrm>
            <a:off x="1234440" y="4123944"/>
            <a:ext cx="10241280" cy="594360"/>
          </a:xfrm>
          <a:prstGeom prst="rect">
            <a:avLst/>
          </a:prstGeom>
          <a:noFill/>
          <a:ln/>
        </p:spPr>
        <p:txBody>
          <a:bodyPr wrap="square" lIns="0" tIns="0" rIns="0" bIns="0" rtlCol="0" anchor="ctr"/>
          <a:lstStyle/>
          <a:p>
            <a:pPr indent="0" marL="0">
              <a:lnSpc>
                <a:spcPct val="120000"/>
              </a:lnSpc>
              <a:buNone/>
            </a:pPr>
            <a:r>
              <a:rPr lang="en-US" sz="1350" dirty="0">
                <a:solidFill>
                  <a:srgbClr val="13282C"/>
                </a:solidFill>
                <a:latin typeface="Calibri" pitchFamily="34" charset="0"/>
                <a:ea typeface="Calibri" pitchFamily="34" charset="-122"/>
                <a:cs typeface="Calibri" pitchFamily="34" charset="-120"/>
              </a:rPr>
              <a:t>Successfully completed all weekly assessments and the Final Assessment Test, earning the Virtual Internship Certificate.</a:t>
            </a:r>
            <a:endParaRPr lang="en-US" sz="1350" dirty="0"/>
          </a:p>
        </p:txBody>
      </p:sp>
      <p:sp>
        <p:nvSpPr>
          <p:cNvPr id="16" name="Shape 10"/>
          <p:cNvSpPr/>
          <p:nvPr/>
        </p:nvSpPr>
        <p:spPr>
          <a:xfrm>
            <a:off x="548640" y="5010912"/>
            <a:ext cx="502920" cy="502920"/>
          </a:xfrm>
          <a:prstGeom prst="ellipse">
            <a:avLst/>
          </a:prstGeom>
          <a:solidFill>
            <a:srgbClr val="02C39A"/>
          </a:solidFill>
          <a:ln/>
        </p:spPr>
      </p:sp>
      <p:pic>
        <p:nvPicPr>
          <p:cNvPr id="17" name="Image 4" descr="/home/claude/ppt/icon_check.png">    </p:cNvPr>
          <p:cNvPicPr>
            <a:picLocks noChangeAspect="1"/>
          </p:cNvPicPr>
          <p:nvPr/>
        </p:nvPicPr>
        <p:blipFill>
          <a:blip r:embed="rId5"/>
          <a:stretch>
            <a:fillRect/>
          </a:stretch>
        </p:blipFill>
        <p:spPr>
          <a:xfrm>
            <a:off x="614020" y="5076292"/>
            <a:ext cx="372161" cy="372161"/>
          </a:xfrm>
          <a:prstGeom prst="rect">
            <a:avLst/>
          </a:prstGeom>
        </p:spPr>
      </p:pic>
      <p:sp>
        <p:nvSpPr>
          <p:cNvPr id="18" name="Text 11"/>
          <p:cNvSpPr/>
          <p:nvPr/>
        </p:nvSpPr>
        <p:spPr>
          <a:xfrm>
            <a:off x="1234440" y="4965192"/>
            <a:ext cx="10241280" cy="594360"/>
          </a:xfrm>
          <a:prstGeom prst="rect">
            <a:avLst/>
          </a:prstGeom>
          <a:noFill/>
          <a:ln/>
        </p:spPr>
        <p:txBody>
          <a:bodyPr wrap="square" lIns="0" tIns="0" rIns="0" bIns="0" rtlCol="0" anchor="ctr"/>
          <a:lstStyle/>
          <a:p>
            <a:pPr indent="0" marL="0">
              <a:lnSpc>
                <a:spcPct val="120000"/>
              </a:lnSpc>
              <a:buNone/>
            </a:pPr>
            <a:r>
              <a:rPr lang="en-US" sz="1350" dirty="0">
                <a:solidFill>
                  <a:srgbClr val="13282C"/>
                </a:solidFill>
                <a:latin typeface="Calibri" pitchFamily="34" charset="0"/>
                <a:ea typeface="Calibri" pitchFamily="34" charset="-122"/>
                <a:cs typeface="Calibri" pitchFamily="34" charset="-120"/>
              </a:rPr>
              <a:t>Strengthened employability and confidence in applying data science concepts to real-world business problems.</a:t>
            </a:r>
            <a:endParaRPr lang="en-US" sz="1350" dirty="0"/>
          </a:p>
        </p:txBody>
      </p:sp>
      <p:sp>
        <p:nvSpPr>
          <p:cNvPr id="19" name="Text 12"/>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0"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AF9"/>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50" b="1" spc="200" kern="0" dirty="0">
                <a:solidFill>
                  <a:srgbClr val="00A896"/>
                </a:solidFill>
                <a:latin typeface="Calibri" pitchFamily="34" charset="0"/>
                <a:ea typeface="Calibri" pitchFamily="34" charset="-122"/>
                <a:cs typeface="Calibri" pitchFamily="34" charset="-120"/>
              </a:rPr>
              <a:t>CHAPTER 5</a:t>
            </a:r>
            <a:endParaRPr lang="en-US" sz="1250" dirty="0"/>
          </a:p>
        </p:txBody>
      </p:sp>
      <p:sp>
        <p:nvSpPr>
          <p:cNvPr id="3" name="Text 1"/>
          <p:cNvSpPr/>
          <p:nvPr/>
        </p:nvSpPr>
        <p:spPr>
          <a:xfrm>
            <a:off x="530352" y="621792"/>
            <a:ext cx="10607040" cy="658368"/>
          </a:xfrm>
          <a:prstGeom prst="rect">
            <a:avLst/>
          </a:prstGeom>
          <a:noFill/>
          <a:ln/>
        </p:spPr>
        <p:txBody>
          <a:bodyPr wrap="square" lIns="0" tIns="0" rIns="0" bIns="0" rtlCol="0" anchor="ctr"/>
          <a:lstStyle/>
          <a:p>
            <a:pPr indent="0" marL="0">
              <a:buNone/>
            </a:pPr>
            <a:r>
              <a:rPr lang="en-US" sz="3000" b="1" dirty="0">
                <a:solidFill>
                  <a:srgbClr val="13282C"/>
                </a:solidFill>
                <a:latin typeface="Cambria" pitchFamily="34" charset="0"/>
                <a:ea typeface="Cambria" pitchFamily="34" charset="-122"/>
                <a:cs typeface="Cambria" pitchFamily="34" charset="-120"/>
              </a:rPr>
              <a:t>Bibliography / References</a:t>
            </a:r>
            <a:endParaRPr lang="en-US" sz="3000" dirty="0"/>
          </a:p>
        </p:txBody>
      </p:sp>
      <p:sp>
        <p:nvSpPr>
          <p:cNvPr id="4" name="Shape 2"/>
          <p:cNvSpPr/>
          <p:nvPr/>
        </p:nvSpPr>
        <p:spPr>
          <a:xfrm>
            <a:off x="548640" y="1691640"/>
            <a:ext cx="457200" cy="457200"/>
          </a:xfrm>
          <a:prstGeom prst="roundRect">
            <a:avLst>
              <a:gd name="adj" fmla="val 12000"/>
            </a:avLst>
          </a:prstGeom>
          <a:solidFill>
            <a:srgbClr val="028090"/>
          </a:solidFill>
          <a:ln/>
        </p:spPr>
      </p:sp>
      <p:sp>
        <p:nvSpPr>
          <p:cNvPr id="5" name="Text 3"/>
          <p:cNvSpPr/>
          <p:nvPr/>
        </p:nvSpPr>
        <p:spPr>
          <a:xfrm>
            <a:off x="548640"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234440" y="1664208"/>
            <a:ext cx="10332720" cy="548640"/>
          </a:xfrm>
          <a:prstGeom prst="rect">
            <a:avLst/>
          </a:prstGeom>
          <a:noFill/>
          <a:ln/>
        </p:spPr>
        <p:txBody>
          <a:bodyPr wrap="square" lIns="0" tIns="0" rIns="0" bIns="0" rtlCol="0" anchor="ctr"/>
          <a:lstStyle/>
          <a:p>
            <a:pPr indent="0" marL="0">
              <a:lnSpc>
                <a:spcPct val="120000"/>
              </a:lnSpc>
              <a:buNone/>
            </a:pPr>
            <a:r>
              <a:rPr lang="en-US" sz="1200" dirty="0">
                <a:solidFill>
                  <a:srgbClr val="13282C"/>
                </a:solidFill>
                <a:latin typeface="Calibri" pitchFamily="34" charset="0"/>
                <a:ea typeface="Calibri" pitchFamily="34" charset="-122"/>
                <a:cs typeface="Calibri" pitchFamily="34" charset="-120"/>
              </a:rPr>
              <a:t>AICTE – EduSkills National Internship Portal, “Data Science Master Virtual Internship Programme,” Ministry of Education, Government of India, 2026.</a:t>
            </a:r>
            <a:endParaRPr lang="en-US" sz="1200" dirty="0"/>
          </a:p>
        </p:txBody>
      </p:sp>
      <p:sp>
        <p:nvSpPr>
          <p:cNvPr id="7" name="Shape 5"/>
          <p:cNvSpPr/>
          <p:nvPr/>
        </p:nvSpPr>
        <p:spPr>
          <a:xfrm>
            <a:off x="548640" y="2404872"/>
            <a:ext cx="457200" cy="457200"/>
          </a:xfrm>
          <a:prstGeom prst="roundRect">
            <a:avLst>
              <a:gd name="adj" fmla="val 12000"/>
            </a:avLst>
          </a:prstGeom>
          <a:solidFill>
            <a:srgbClr val="00A896"/>
          </a:solidFill>
          <a:ln/>
        </p:spPr>
      </p:sp>
      <p:sp>
        <p:nvSpPr>
          <p:cNvPr id="8" name="Text 6"/>
          <p:cNvSpPr/>
          <p:nvPr/>
        </p:nvSpPr>
        <p:spPr>
          <a:xfrm>
            <a:off x="548640" y="2404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234440" y="2377440"/>
            <a:ext cx="10332720" cy="548640"/>
          </a:xfrm>
          <a:prstGeom prst="rect">
            <a:avLst/>
          </a:prstGeom>
          <a:noFill/>
          <a:ln/>
        </p:spPr>
        <p:txBody>
          <a:bodyPr wrap="square" lIns="0" tIns="0" rIns="0" bIns="0" rtlCol="0" anchor="ctr"/>
          <a:lstStyle/>
          <a:p>
            <a:pPr indent="0" marL="0">
              <a:lnSpc>
                <a:spcPct val="120000"/>
              </a:lnSpc>
              <a:buNone/>
            </a:pPr>
            <a:r>
              <a:rPr lang="en-US" sz="1200" dirty="0">
                <a:solidFill>
                  <a:srgbClr val="13282C"/>
                </a:solidFill>
                <a:latin typeface="Calibri" pitchFamily="34" charset="0"/>
                <a:ea typeface="Calibri" pitchFamily="34" charset="-122"/>
                <a:cs typeface="Calibri" pitchFamily="34" charset="-120"/>
              </a:rPr>
              <a:t>Siemens Industry Software (India) Pvt. Ltd., RapidMiner AI Hub – Official Documentation, 2026.</a:t>
            </a:r>
            <a:endParaRPr lang="en-US" sz="1200" dirty="0"/>
          </a:p>
        </p:txBody>
      </p:sp>
      <p:sp>
        <p:nvSpPr>
          <p:cNvPr id="10" name="Shape 8"/>
          <p:cNvSpPr/>
          <p:nvPr/>
        </p:nvSpPr>
        <p:spPr>
          <a:xfrm>
            <a:off x="548640" y="3118104"/>
            <a:ext cx="457200" cy="457200"/>
          </a:xfrm>
          <a:prstGeom prst="roundRect">
            <a:avLst>
              <a:gd name="adj" fmla="val 12000"/>
            </a:avLst>
          </a:prstGeom>
          <a:solidFill>
            <a:srgbClr val="028090"/>
          </a:solidFill>
          <a:ln/>
        </p:spPr>
      </p:sp>
      <p:sp>
        <p:nvSpPr>
          <p:cNvPr id="11" name="Text 9"/>
          <p:cNvSpPr/>
          <p:nvPr/>
        </p:nvSpPr>
        <p:spPr>
          <a:xfrm>
            <a:off x="548640" y="31181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234440" y="3090672"/>
            <a:ext cx="10332720" cy="548640"/>
          </a:xfrm>
          <a:prstGeom prst="rect">
            <a:avLst/>
          </a:prstGeom>
          <a:noFill/>
          <a:ln/>
        </p:spPr>
        <p:txBody>
          <a:bodyPr wrap="square" lIns="0" tIns="0" rIns="0" bIns="0" rtlCol="0" anchor="ctr"/>
          <a:lstStyle/>
          <a:p>
            <a:pPr indent="0" marL="0">
              <a:lnSpc>
                <a:spcPct val="120000"/>
              </a:lnSpc>
              <a:buNone/>
            </a:pPr>
            <a:r>
              <a:rPr lang="en-US" sz="1200" dirty="0">
                <a:solidFill>
                  <a:srgbClr val="13282C"/>
                </a:solidFill>
                <a:latin typeface="Calibri" pitchFamily="34" charset="0"/>
                <a:ea typeface="Calibri" pitchFamily="34" charset="-122"/>
                <a:cs typeface="Calibri" pitchFamily="34" charset="-120"/>
              </a:rPr>
              <a:t>EduSkills Foundation, Internship Offer Letter, Ref. No. C17Y2026M081503620, 2026.</a:t>
            </a:r>
            <a:endParaRPr lang="en-US" sz="1200" dirty="0"/>
          </a:p>
        </p:txBody>
      </p:sp>
      <p:sp>
        <p:nvSpPr>
          <p:cNvPr id="13" name="Shape 11"/>
          <p:cNvSpPr/>
          <p:nvPr/>
        </p:nvSpPr>
        <p:spPr>
          <a:xfrm>
            <a:off x="548640" y="3831336"/>
            <a:ext cx="457200" cy="457200"/>
          </a:xfrm>
          <a:prstGeom prst="roundRect">
            <a:avLst>
              <a:gd name="adj" fmla="val 12000"/>
            </a:avLst>
          </a:prstGeom>
          <a:solidFill>
            <a:srgbClr val="00A896"/>
          </a:solidFill>
          <a:ln/>
        </p:spPr>
      </p:sp>
      <p:sp>
        <p:nvSpPr>
          <p:cNvPr id="14" name="Text 12"/>
          <p:cNvSpPr/>
          <p:nvPr/>
        </p:nvSpPr>
        <p:spPr>
          <a:xfrm>
            <a:off x="548640" y="38313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234440" y="3803904"/>
            <a:ext cx="10332720" cy="548640"/>
          </a:xfrm>
          <a:prstGeom prst="rect">
            <a:avLst/>
          </a:prstGeom>
          <a:noFill/>
          <a:ln/>
        </p:spPr>
        <p:txBody>
          <a:bodyPr wrap="square" lIns="0" tIns="0" rIns="0" bIns="0" rtlCol="0" anchor="ctr"/>
          <a:lstStyle/>
          <a:p>
            <a:pPr indent="0" marL="0">
              <a:lnSpc>
                <a:spcPct val="120000"/>
              </a:lnSpc>
              <a:buNone/>
            </a:pPr>
            <a:r>
              <a:rPr lang="en-US" sz="1200" dirty="0">
                <a:solidFill>
                  <a:srgbClr val="13282C"/>
                </a:solidFill>
                <a:latin typeface="Calibri" pitchFamily="34" charset="0"/>
                <a:ea typeface="Calibri" pitchFamily="34" charset="-122"/>
                <a:cs typeface="Calibri" pitchFamily="34" charset="-120"/>
              </a:rPr>
              <a:t>EduSkills Foundation, Certificate of Virtual Internship, Certificate ID: 40d38f954444b77d6aeb, 2026.</a:t>
            </a:r>
            <a:endParaRPr lang="en-US" sz="1200" dirty="0"/>
          </a:p>
        </p:txBody>
      </p:sp>
      <p:sp>
        <p:nvSpPr>
          <p:cNvPr id="16" name="Shape 14"/>
          <p:cNvSpPr/>
          <p:nvPr/>
        </p:nvSpPr>
        <p:spPr>
          <a:xfrm>
            <a:off x="548640" y="4544568"/>
            <a:ext cx="457200" cy="457200"/>
          </a:xfrm>
          <a:prstGeom prst="roundRect">
            <a:avLst>
              <a:gd name="adj" fmla="val 12000"/>
            </a:avLst>
          </a:prstGeom>
          <a:solidFill>
            <a:srgbClr val="028090"/>
          </a:solidFill>
          <a:ln/>
        </p:spPr>
      </p:sp>
      <p:sp>
        <p:nvSpPr>
          <p:cNvPr id="17" name="Text 15"/>
          <p:cNvSpPr/>
          <p:nvPr/>
        </p:nvSpPr>
        <p:spPr>
          <a:xfrm>
            <a:off x="548640" y="4544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p:nvPr/>
        </p:nvSpPr>
        <p:spPr>
          <a:xfrm>
            <a:off x="1234440" y="4517136"/>
            <a:ext cx="10332720" cy="548640"/>
          </a:xfrm>
          <a:prstGeom prst="rect">
            <a:avLst/>
          </a:prstGeom>
          <a:noFill/>
          <a:ln/>
        </p:spPr>
        <p:txBody>
          <a:bodyPr wrap="square" lIns="0" tIns="0" rIns="0" bIns="0" rtlCol="0" anchor="ctr"/>
          <a:lstStyle/>
          <a:p>
            <a:pPr indent="0" marL="0">
              <a:lnSpc>
                <a:spcPct val="120000"/>
              </a:lnSpc>
              <a:buNone/>
            </a:pPr>
            <a:r>
              <a:rPr lang="en-US" sz="1200" dirty="0">
                <a:solidFill>
                  <a:srgbClr val="13282C"/>
                </a:solidFill>
                <a:latin typeface="Calibri" pitchFamily="34" charset="0"/>
                <a:ea typeface="Calibri" pitchFamily="34" charset="-122"/>
                <a:cs typeface="Calibri" pitchFamily="34" charset="-120"/>
              </a:rPr>
              <a:t>IILM University, School of Computer Science and Engineering. (2026–27). Internship Report Format, updated 2026–27.</a:t>
            </a:r>
            <a:endParaRPr lang="en-US" sz="1200" dirty="0"/>
          </a:p>
        </p:txBody>
      </p:sp>
      <p:sp>
        <p:nvSpPr>
          <p:cNvPr id="19" name="Text 17"/>
          <p:cNvSpPr/>
          <p:nvPr/>
        </p:nvSpPr>
        <p:spPr>
          <a:xfrm>
            <a:off x="457200" y="6473952"/>
            <a:ext cx="8229600" cy="274320"/>
          </a:xfrm>
          <a:prstGeom prst="rect">
            <a:avLst/>
          </a:prstGeom>
          <a:noFill/>
          <a:ln/>
        </p:spPr>
        <p:txBody>
          <a:bodyPr wrap="square" lIns="0" tIns="0" rIns="0" bIns="0" rtlCol="0" anchor="ctr"/>
          <a:lstStyle/>
          <a:p>
            <a:pPr algn="l" indent="0" marL="0">
              <a:buNone/>
            </a:pPr>
            <a:r>
              <a:rPr lang="en-US" sz="900" dirty="0">
                <a:solidFill>
                  <a:srgbClr val="5B7278"/>
                </a:solidFill>
                <a:latin typeface="Calibri" pitchFamily="34" charset="0"/>
                <a:ea typeface="Calibri" pitchFamily="34" charset="-122"/>
                <a:cs typeface="Calibri" pitchFamily="34" charset="-120"/>
              </a:rPr>
              <a:t>Data Science Master Virtual Internship  |  Pallavi Bora  |  IILM University</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B72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5175504" y="1965960"/>
            <a:ext cx="1188720" cy="1188720"/>
          </a:xfrm>
          <a:prstGeom prst="ellipse">
            <a:avLst/>
          </a:prstGeom>
          <a:solidFill>
            <a:srgbClr val="00A896"/>
          </a:solidFill>
          <a:ln/>
        </p:spPr>
      </p:sp>
      <p:pic>
        <p:nvPicPr>
          <p:cNvPr id="3" name="Image 0" descr="/home/claude/ppt/icon_grad.png">    </p:cNvPr>
          <p:cNvPicPr>
            <a:picLocks noChangeAspect="1"/>
          </p:cNvPicPr>
          <p:nvPr/>
        </p:nvPicPr>
        <p:blipFill>
          <a:blip r:embed="rId1"/>
          <a:stretch>
            <a:fillRect/>
          </a:stretch>
        </p:blipFill>
        <p:spPr>
          <a:xfrm>
            <a:off x="5330038" y="2120494"/>
            <a:ext cx="879653" cy="879653"/>
          </a:xfrm>
          <a:prstGeom prst="rect">
            <a:avLst/>
          </a:prstGeom>
        </p:spPr>
      </p:pic>
      <p:sp>
        <p:nvSpPr>
          <p:cNvPr id="4" name="Text 1"/>
          <p:cNvSpPr/>
          <p:nvPr/>
        </p:nvSpPr>
        <p:spPr>
          <a:xfrm>
            <a:off x="0" y="3337560"/>
            <a:ext cx="1218895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p:nvPr/>
        </p:nvSpPr>
        <p:spPr>
          <a:xfrm>
            <a:off x="0" y="4160520"/>
            <a:ext cx="12188952" cy="365760"/>
          </a:xfrm>
          <a:prstGeom prst="rect">
            <a:avLst/>
          </a:prstGeom>
          <a:noFill/>
          <a:ln/>
        </p:spPr>
        <p:txBody>
          <a:bodyPr wrap="square" lIns="0" tIns="0" rIns="0" bIns="0" rtlCol="0" anchor="ctr"/>
          <a:lstStyle/>
          <a:p>
            <a:pPr algn="ctr" indent="0" marL="0">
              <a:buNone/>
            </a:pPr>
            <a:r>
              <a:rPr lang="en-US" sz="1300" dirty="0">
                <a:solidFill>
                  <a:srgbClr val="9FC2C4"/>
                </a:solidFill>
                <a:latin typeface="Calibri" pitchFamily="34" charset="0"/>
                <a:ea typeface="Calibri" pitchFamily="34" charset="-122"/>
                <a:cs typeface="Calibri" pitchFamily="34" charset="-120"/>
              </a:rPr>
              <a:t>Pallavi Bora  •  Roll No. 25SCS1003003067  •  B.Tech CSE, 2025-29</a:t>
            </a:r>
            <a:endParaRPr lang="en-US" sz="1300" dirty="0"/>
          </a:p>
        </p:txBody>
      </p:sp>
      <p:sp>
        <p:nvSpPr>
          <p:cNvPr id="6" name="Text 3"/>
          <p:cNvSpPr/>
          <p:nvPr/>
        </p:nvSpPr>
        <p:spPr>
          <a:xfrm>
            <a:off x="0" y="4526280"/>
            <a:ext cx="12188952" cy="365760"/>
          </a:xfrm>
          <a:prstGeom prst="rect">
            <a:avLst/>
          </a:prstGeom>
          <a:noFill/>
          <a:ln/>
        </p:spPr>
        <p:txBody>
          <a:bodyPr wrap="square" lIns="0" tIns="0" rIns="0" bIns="0" rtlCol="0" anchor="ctr"/>
          <a:lstStyle/>
          <a:p>
            <a:pPr algn="ctr" indent="0" marL="0">
              <a:buNone/>
            </a:pPr>
            <a:r>
              <a:rPr lang="en-US" sz="1200" dirty="0">
                <a:solidFill>
                  <a:srgbClr val="6C9294"/>
                </a:solidFill>
                <a:latin typeface="Calibri" pitchFamily="34" charset="0"/>
                <a:ea typeface="Calibri" pitchFamily="34" charset="-122"/>
                <a:cs typeface="Calibri" pitchFamily="34" charset="-120"/>
              </a:rPr>
              <a:t>School of Computer Science and Engineering  |  IILM University, Greater Noida, U.P.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2026-08-26T07:50:55Z</dcterms:created>
  <dcterms:modified xsi:type="dcterms:W3CDTF">2026-08-26T07:50:55Z</dcterms:modified>
</cp:coreProperties>
</file>